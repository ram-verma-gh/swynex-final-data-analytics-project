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Missing cells</c:v>
                </c:pt>
              </c:strCache>
            </c:strRef>
          </c:tx>
          <c:spPr>
            <a:solidFill>
              <a:srgbClr val="C64842"/>
            </a:solidFill>
            <a:ln>
              <a:noFill/>
            </a:ln>
          </c:spPr>
          <c:cat>
            <c:strRef>
              <c:f>Sheet1!$A$2:$A$6</c:f>
              <c:strCache>
                <c:ptCount val="5"/>
                <c:pt idx="0">
                  <c:v>Country</c:v>
                </c:pt>
                <c:pt idx="1">
                  <c:v>Email</c:v>
                </c:pt>
                <c:pt idx="2">
                  <c:v>PaymentMethod</c:v>
                </c:pt>
                <c:pt idx="3">
                  <c:v>CustomerName</c:v>
                </c:pt>
                <c:pt idx="4">
                  <c:v>Shippingcity</c:v>
                </c:pt>
              </c:strCache>
            </c:strRef>
          </c:cat>
          <c:val>
            <c:numRef>
              <c:f>Sheet1!$B$2:$B$6</c:f>
              <c:numCache>
                <c:formatCode>General</c:formatCode>
                <c:ptCount val="5"/>
                <c:pt idx="0">
                  <c:v>52</c:v>
                </c:pt>
                <c:pt idx="1">
                  <c:v>49</c:v>
                </c:pt>
                <c:pt idx="2">
                  <c:v>36</c:v>
                </c:pt>
                <c:pt idx="3">
                  <c:v>35</c:v>
                </c:pt>
                <c:pt idx="4">
                  <c:v>26</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dispBlanksAs val="gap"/>
  </c:chart>
  <c:txPr>
    <a:bodyPr/>
    <a:lstStyle/>
    <a:p>
      <a:pPr>
        <a:defRPr sz="1100">
          <a:solidFill>
            <a:srgbClr val="21252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As reported in Tasks 1-3</c:v>
                </c:pt>
              </c:strCache>
            </c:strRef>
          </c:tx>
          <c:spPr>
            <a:solidFill>
              <a:srgbClr val="96A0AA"/>
            </a:solidFill>
            <a:ln>
              <a:noFill/>
            </a:ln>
          </c:spPr>
          <c:cat>
            <c:strRef>
              <c:f>Sheet1!$A$2:$A$7</c:f>
              <c:strCache>
                <c:ptCount val="6"/>
                <c:pt idx="0">
                  <c:v>Australia</c:v>
                </c:pt>
                <c:pt idx="1">
                  <c:v>United Kingdom</c:v>
                </c:pt>
                <c:pt idx="2">
                  <c:v>India</c:v>
                </c:pt>
                <c:pt idx="3">
                  <c:v>Canada</c:v>
                </c:pt>
                <c:pt idx="4">
                  <c:v>USA</c:v>
                </c:pt>
                <c:pt idx="5">
                  <c:v>Unknown</c:v>
                </c:pt>
              </c:strCache>
            </c:strRef>
          </c:cat>
          <c:val>
            <c:numRef>
              <c:f>Sheet1!$B$2:$B$7</c:f>
              <c:numCache>
                <c:formatCode>General</c:formatCode>
                <c:ptCount val="6"/>
                <c:pt idx="0">
                  <c:v>78633.63</c:v>
                </c:pt>
                <c:pt idx="1">
                  <c:v>56115.69</c:v>
                </c:pt>
                <c:pt idx="2">
                  <c:v>63504.97</c:v>
                </c:pt>
                <c:pt idx="3">
                  <c:v>61491.73</c:v>
                </c:pt>
                <c:pt idx="4">
                  <c:v>61202.73</c:v>
                </c:pt>
                <c:pt idx="5">
                  <c:v>31144.23</c:v>
                </c:pt>
              </c:numCache>
            </c:numRef>
          </c:val>
        </c:ser>
        <c:ser>
          <c:idx val="1"/>
          <c:order val="1"/>
          <c:tx>
            <c:strRef>
              <c:f>Sheet1!$C$1</c:f>
              <c:strCache>
                <c:ptCount val="1"/>
                <c:pt idx="0">
                  <c:v>Corrected in Task 4</c:v>
                </c:pt>
              </c:strCache>
            </c:strRef>
          </c:tx>
          <c:spPr>
            <a:solidFill>
              <a:srgbClr val="1F4E79"/>
            </a:solidFill>
            <a:ln>
              <a:noFill/>
            </a:ln>
          </c:spPr>
          <c:cat>
            <c:strRef>
              <c:f>Sheet1!$A$2:$A$7</c:f>
              <c:strCache>
                <c:ptCount val="6"/>
                <c:pt idx="0">
                  <c:v>Australia</c:v>
                </c:pt>
                <c:pt idx="1">
                  <c:v>United Kingdom</c:v>
                </c:pt>
                <c:pt idx="2">
                  <c:v>India</c:v>
                </c:pt>
                <c:pt idx="3">
                  <c:v>Canada</c:v>
                </c:pt>
                <c:pt idx="4">
                  <c:v>USA</c:v>
                </c:pt>
                <c:pt idx="5">
                  <c:v>Unknown</c:v>
                </c:pt>
              </c:strCache>
            </c:strRef>
          </c:cat>
          <c:val>
            <c:numRef>
              <c:f>Sheet1!$C$2:$C$7</c:f>
              <c:numCache>
                <c:formatCode>General</c:formatCode>
                <c:ptCount val="6"/>
                <c:pt idx="0">
                  <c:v>78633.63</c:v>
                </c:pt>
                <c:pt idx="1">
                  <c:v>69745.83</c:v>
                </c:pt>
                <c:pt idx="2">
                  <c:v>63504.97</c:v>
                </c:pt>
                <c:pt idx="3">
                  <c:v>61491.73</c:v>
                </c:pt>
                <c:pt idx="4">
                  <c:v>61202.73</c:v>
                </c:pt>
                <c:pt idx="5">
                  <c:v>31144.23</c:v>
                </c:pt>
              </c:numCache>
            </c:numRef>
          </c:val>
        </c:ser>
        <c:gapWidth val="55"/>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legend>
      <c:legendPos val="t"/>
      <c:overlay val="0"/>
    </c:legend>
    <c:dispBlanksAs val="gap"/>
  </c:chart>
  <c:txPr>
    <a:bodyPr/>
    <a:lstStyle/>
    <a:p>
      <a:pPr>
        <a:defRPr sz="1100">
          <a:solidFill>
            <a:srgbClr val="21252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2024</c:v>
                </c:pt>
              </c:strCache>
            </c:strRef>
          </c:tx>
          <c:spPr>
            <a:solidFill>
              <a:srgbClr val="96A0AA"/>
            </a:solidFill>
            <a:ln>
              <a:noFill/>
            </a:ln>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c:v>
                </c:pt>
                <c:pt idx="1">
                  <c:v>1</c:v>
                </c:pt>
                <c:pt idx="2">
                  <c:v>3</c:v>
                </c:pt>
                <c:pt idx="3">
                  <c:v>4</c:v>
                </c:pt>
                <c:pt idx="4">
                  <c:v>2</c:v>
                </c:pt>
                <c:pt idx="5">
                  <c:v>3</c:v>
                </c:pt>
                <c:pt idx="6">
                  <c:v>2</c:v>
                </c:pt>
                <c:pt idx="7">
                  <c:v>1</c:v>
                </c:pt>
                <c:pt idx="8">
                  <c:v>10</c:v>
                </c:pt>
                <c:pt idx="9">
                  <c:v>22</c:v>
                </c:pt>
                <c:pt idx="10">
                  <c:v>20</c:v>
                </c:pt>
                <c:pt idx="11">
                  <c:v>29</c:v>
                </c:pt>
              </c:numCache>
            </c:numRef>
          </c:val>
        </c:ser>
        <c:ser>
          <c:idx val="1"/>
          <c:order val="1"/>
          <c:tx>
            <c:strRef>
              <c:f>Sheet1!$C$1</c:f>
              <c:strCache>
                <c:ptCount val="1"/>
                <c:pt idx="0">
                  <c:v>2025</c:v>
                </c:pt>
              </c:strCache>
            </c:strRef>
          </c:tx>
          <c:spPr>
            <a:solidFill>
              <a:srgbClr val="1F4E79"/>
            </a:solidFill>
            <a:ln>
              <a:noFill/>
            </a:ln>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25</c:v>
                </c:pt>
                <c:pt idx="1">
                  <c:v>21</c:v>
                </c:pt>
                <c:pt idx="2">
                  <c:v>31</c:v>
                </c:pt>
                <c:pt idx="3">
                  <c:v>28</c:v>
                </c:pt>
                <c:pt idx="4">
                  <c:v>24</c:v>
                </c:pt>
                <c:pt idx="5">
                  <c:v>22</c:v>
                </c:pt>
                <c:pt idx="6">
                  <c:v>16</c:v>
                </c:pt>
                <c:pt idx="7">
                  <c:v>31</c:v>
                </c:pt>
                <c:pt idx="8">
                  <c:v>22</c:v>
                </c:pt>
                <c:pt idx="9">
                  <c:v>29</c:v>
                </c:pt>
                <c:pt idx="10">
                  <c:v>32</c:v>
                </c:pt>
                <c:pt idx="11">
                  <c:v>17</c:v>
                </c:pt>
              </c:numCache>
            </c:numRef>
          </c:val>
        </c:ser>
        <c:ser>
          <c:idx val="2"/>
          <c:order val="2"/>
          <c:tx>
            <c:strRef>
              <c:f>Sheet1!$D$1</c:f>
              <c:strCache>
                <c:ptCount val="1"/>
                <c:pt idx="0">
                  <c:v>2026</c:v>
                </c:pt>
              </c:strCache>
            </c:strRef>
          </c:tx>
          <c:spPr>
            <a:solidFill>
              <a:srgbClr val="E8871E"/>
            </a:solidFill>
            <a:ln>
              <a:noFill/>
            </a:ln>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26</c:v>
                </c:pt>
                <c:pt idx="1">
                  <c:v>15</c:v>
                </c:pt>
                <c:pt idx="2">
                  <c:v>27</c:v>
                </c:pt>
                <c:pt idx="3">
                  <c:v>21</c:v>
                </c:pt>
                <c:pt idx="4">
                  <c:v>21</c:v>
                </c:pt>
                <c:pt idx="5">
                  <c:v>28</c:v>
                </c:pt>
                <c:pt idx="6">
                  <c:v>30</c:v>
                </c:pt>
                <c:pt idx="7">
                  <c:v>25</c:v>
                </c:pt>
                <c:pt idx="8">
                  <c:v>12</c:v>
                </c:pt>
                <c:pt idx="9">
                  <c:v>10</c:v>
                </c:pt>
                <c:pt idx="10">
                  <c:v>9</c:v>
                </c:pt>
                <c:pt idx="11">
                  <c:v>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legend>
      <c:legendPos val="t"/>
      <c:overlay val="0"/>
    </c:legend>
    <c:dispBlanksAs val="gap"/>
  </c:chart>
  <c:txPr>
    <a:bodyPr/>
    <a:lstStyle/>
    <a:p>
      <a:pPr>
        <a:defRPr sz="1100">
          <a:solidFill>
            <a:srgbClr val="212529"/>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2025</c:v>
                </c:pt>
              </c:strCache>
            </c:strRef>
          </c:tx>
          <c:spPr>
            <a:solidFill>
              <a:srgbClr val="1F4E79"/>
            </a:solidFill>
            <a:ln>
              <a:noFill/>
            </a:ln>
          </c:spPr>
          <c:cat>
            <c:strRef>
              <c:f>Sheet1!$A$2:$A$4</c:f>
              <c:strCache>
                <c:ptCount val="3"/>
                <c:pt idx="0">
                  <c:v>Revenue Jan-Aug</c:v>
                </c:pt>
                <c:pt idx="1">
                  <c:v>Orders Jan-Aug</c:v>
                </c:pt>
                <c:pt idx="2">
                  <c:v>Average order value</c:v>
                </c:pt>
              </c:strCache>
            </c:strRef>
          </c:cat>
          <c:val>
            <c:numRef>
              <c:f>Sheet1!$B$2:$B$4</c:f>
              <c:numCache>
                <c:formatCode>General</c:formatCode>
                <c:ptCount val="3"/>
                <c:pt idx="0">
                  <c:v>115012.08</c:v>
                </c:pt>
                <c:pt idx="1">
                  <c:v>198</c:v>
                </c:pt>
                <c:pt idx="2">
                  <c:v>580.87</c:v>
                </c:pt>
              </c:numCache>
            </c:numRef>
          </c:val>
        </c:ser>
        <c:ser>
          <c:idx val="1"/>
          <c:order val="1"/>
          <c:tx>
            <c:strRef>
              <c:f>Sheet1!$C$1</c:f>
              <c:strCache>
                <c:ptCount val="1"/>
                <c:pt idx="0">
                  <c:v>2026</c:v>
                </c:pt>
              </c:strCache>
            </c:strRef>
          </c:tx>
          <c:spPr>
            <a:solidFill>
              <a:srgbClr val="E8871E"/>
            </a:solidFill>
            <a:ln>
              <a:noFill/>
            </a:ln>
          </c:spPr>
          <c:cat>
            <c:strRef>
              <c:f>Sheet1!$A$2:$A$4</c:f>
              <c:strCache>
                <c:ptCount val="3"/>
                <c:pt idx="0">
                  <c:v>Revenue Jan-Aug</c:v>
                </c:pt>
                <c:pt idx="1">
                  <c:v>Orders Jan-Aug</c:v>
                </c:pt>
                <c:pt idx="2">
                  <c:v>Average order value</c:v>
                </c:pt>
              </c:strCache>
            </c:strRef>
          </c:cat>
          <c:val>
            <c:numRef>
              <c:f>Sheet1!$C$2:$C$4</c:f>
              <c:numCache>
                <c:formatCode>General</c:formatCode>
                <c:ptCount val="3"/>
                <c:pt idx="0">
                  <c:v>114713.63</c:v>
                </c:pt>
                <c:pt idx="1">
                  <c:v>193</c:v>
                </c:pt>
                <c:pt idx="2">
                  <c:v>594.37</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legend>
      <c:legendPos val="t"/>
      <c:overlay val="0"/>
    </c:legend>
    <c:dispBlanksAs val="gap"/>
  </c:chart>
  <c:txPr>
    <a:bodyPr/>
    <a:lstStyle/>
    <a:p>
      <a:pPr>
        <a:defRPr sz="1100">
          <a:solidFill>
            <a:srgbClr val="212529"/>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1F4E79"/>
            </a:solidFill>
            <a:ln>
              <a:noFill/>
            </a:ln>
          </c:spPr>
          <c:cat>
            <c:strRef>
              <c:f>Sheet1!$A$2:$A$7</c:f>
              <c:strCache>
                <c:ptCount val="6"/>
                <c:pt idx="0">
                  <c:v>Australia</c:v>
                </c:pt>
                <c:pt idx="1">
                  <c:v>United Kingdom</c:v>
                </c:pt>
                <c:pt idx="2">
                  <c:v>India</c:v>
                </c:pt>
                <c:pt idx="3">
                  <c:v>Canada</c:v>
                </c:pt>
                <c:pt idx="4">
                  <c:v>USA</c:v>
                </c:pt>
                <c:pt idx="5">
                  <c:v>Unknown</c:v>
                </c:pt>
              </c:strCache>
            </c:strRef>
          </c:cat>
          <c:val>
            <c:numRef>
              <c:f>Sheet1!$B$2:$B$7</c:f>
              <c:numCache>
                <c:formatCode>General</c:formatCode>
                <c:ptCount val="6"/>
                <c:pt idx="0">
                  <c:v>78633.63</c:v>
                </c:pt>
                <c:pt idx="1">
                  <c:v>69745.83</c:v>
                </c:pt>
                <c:pt idx="2">
                  <c:v>63504.97</c:v>
                </c:pt>
                <c:pt idx="3">
                  <c:v>61491.73</c:v>
                </c:pt>
                <c:pt idx="4">
                  <c:v>61202.73</c:v>
                </c:pt>
                <c:pt idx="5">
                  <c:v>31144.23</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dispBlanksAs val="gap"/>
  </c:chart>
  <c:txPr>
    <a:bodyPr/>
    <a:lstStyle/>
    <a:p>
      <a:pPr>
        <a:defRPr sz="1100">
          <a:solidFill>
            <a:srgbClr val="212529"/>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E86AB"/>
            </a:solidFill>
            <a:ln>
              <a:noFill/>
            </a:ln>
          </c:spPr>
          <c:cat>
            <c:strRef>
              <c:f>Sheet1!$A$2:$A$6</c:f>
              <c:strCache>
                <c:ptCount val="5"/>
                <c:pt idx="0">
                  <c:v>Home &amp; Kitchen</c:v>
                </c:pt>
                <c:pt idx="1">
                  <c:v>Apparel</c:v>
                </c:pt>
                <c:pt idx="2">
                  <c:v>Electronics</c:v>
                </c:pt>
                <c:pt idx="3">
                  <c:v>Beauty</c:v>
                </c:pt>
                <c:pt idx="4">
                  <c:v>Sports</c:v>
                </c:pt>
              </c:strCache>
            </c:strRef>
          </c:cat>
          <c:val>
            <c:numRef>
              <c:f>Sheet1!$B$2:$B$6</c:f>
              <c:numCache>
                <c:formatCode>General</c:formatCode>
                <c:ptCount val="5"/>
                <c:pt idx="0">
                  <c:v>77325.14</c:v>
                </c:pt>
                <c:pt idx="1">
                  <c:v>76419.63</c:v>
                </c:pt>
                <c:pt idx="2">
                  <c:v>75943.54</c:v>
                </c:pt>
                <c:pt idx="3">
                  <c:v>75098.53</c:v>
                </c:pt>
                <c:pt idx="4">
                  <c:v>60936.28</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dispBlanksAs val="gap"/>
  </c:chart>
  <c:txPr>
    <a:bodyPr/>
    <a:lstStyle/>
    <a:p>
      <a:pPr>
        <a:defRPr sz="1100">
          <a:solidFill>
            <a:srgbClr val="212529"/>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Revenue</c:v>
                </c:pt>
              </c:strCache>
            </c:strRef>
          </c:tx>
          <c:dPt>
            <c:idx val="0"/>
            <c:spPr>
              <a:solidFill>
                <a:srgbClr val="1F4E79"/>
              </a:solidFill>
              <a:ln>
                <a:solidFill>
                  <a:srgbClr val="FFFFFF"/>
                </a:solidFill>
              </a:ln>
            </c:spPr>
          </c:dPt>
          <c:dPt>
            <c:idx val="1"/>
            <c:spPr>
              <a:solidFill>
                <a:srgbClr val="2E86AB"/>
              </a:solidFill>
              <a:ln>
                <a:solidFill>
                  <a:srgbClr val="FFFFFF"/>
                </a:solidFill>
              </a:ln>
            </c:spPr>
          </c:dPt>
          <c:dPt>
            <c:idx val="2"/>
            <c:spPr>
              <a:solidFill>
                <a:srgbClr val="E8871E"/>
              </a:solidFill>
              <a:ln>
                <a:solidFill>
                  <a:srgbClr val="FFFFFF"/>
                </a:solidFill>
              </a:ln>
            </c:spPr>
          </c:dPt>
          <c:dPt>
            <c:idx val="3"/>
            <c:spPr>
              <a:solidFill>
                <a:srgbClr val="4C9B5C"/>
              </a:solidFill>
              <a:ln>
                <a:solidFill>
                  <a:srgbClr val="FFFFFF"/>
                </a:solidFill>
              </a:ln>
            </c:spPr>
          </c:dPt>
          <c:dPt>
            <c:idx val="4"/>
            <c:spPr>
              <a:solidFill>
                <a:srgbClr val="7C5CA8"/>
              </a:solidFill>
              <a:ln>
                <a:solidFill>
                  <a:srgbClr val="FFFFFF"/>
                </a:solidFill>
              </a:ln>
            </c:spPr>
          </c:dPt>
          <c:dPt>
            <c:idx val="5"/>
            <c:spPr>
              <a:solidFill>
                <a:srgbClr val="C64842"/>
              </a:solidFill>
              <a:ln>
                <a:solidFill>
                  <a:srgbClr val="FFFFFF"/>
                </a:solidFill>
              </a:ln>
            </c:spPr>
          </c:dPt>
          <c:cat>
            <c:strRef>
              <c:f>Sheet1!$A$2:$A$7</c:f>
              <c:strCache>
                <c:ptCount val="6"/>
                <c:pt idx="0">
                  <c:v>Credit Card</c:v>
                </c:pt>
                <c:pt idx="1">
                  <c:v>Cash On Delivery</c:v>
                </c:pt>
                <c:pt idx="2">
                  <c:v>Upi</c:v>
                </c:pt>
                <c:pt idx="3">
                  <c:v>Net Banking</c:v>
                </c:pt>
                <c:pt idx="4">
                  <c:v>Debit Card</c:v>
                </c:pt>
                <c:pt idx="5">
                  <c:v>Unknown</c:v>
                </c:pt>
              </c:strCache>
            </c:strRef>
          </c:cat>
          <c:val>
            <c:numRef>
              <c:f>Sheet1!$B$2:$B$7</c:f>
              <c:numCache>
                <c:formatCode>General</c:formatCode>
                <c:ptCount val="6"/>
                <c:pt idx="0">
                  <c:v>118947.29</c:v>
                </c:pt>
                <c:pt idx="1">
                  <c:v>80856.79</c:v>
                </c:pt>
                <c:pt idx="2">
                  <c:v>56793.75</c:v>
                </c:pt>
                <c:pt idx="3">
                  <c:v>46834.9</c:v>
                </c:pt>
                <c:pt idx="4">
                  <c:v>45114.14</c:v>
                </c:pt>
                <c:pt idx="5">
                  <c:v>17176.25</c:v>
                </c:pt>
              </c:numCache>
            </c:numRef>
          </c:val>
        </c:ser>
        <c:dLbls>
          <c:numFmt formatCode="0.0%" sourceLinked="0"/>
          <c:txPr>
            <a:bodyPr/>
            <a:lstStyle/>
            <a:p>
              <a:pPr>
                <a:defRPr sz="1100" b="1">
                  <a:solidFill>
                    <a:srgbClr val="FFFFFF"/>
                  </a:solidFill>
                </a:defRPr>
              </a:pPr>
            </a:p>
          </c:txPr>
          <c:showLegendKey val="0"/>
          <c:showVal val="0"/>
          <c:showCatName val="0"/>
          <c:showSerName val="0"/>
          <c:showPercent val="1"/>
          <c:showBubbleSize val="0"/>
          <c:showLeaderLines val="1"/>
        </c:dLbls>
      </c:pieChart>
    </c:plotArea>
    <c:legend>
      <c:legendPos/>
      <c:overlay val="0"/>
    </c:legend>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Revenue</c:v>
                </c:pt>
              </c:strCache>
            </c:strRef>
          </c:tx>
          <c:spPr>
            <a:solidFill>
              <a:srgbClr val="2E86AB"/>
            </a:solidFill>
            <a:ln>
              <a:noFill/>
            </a:ln>
          </c:spPr>
          <c:cat>
            <c:strRef>
              <c:f>Sheet1!$A$2:$A$11</c:f>
              <c:strCache>
                <c:ptCount val="10"/>
                <c:pt idx="0">
                  <c:v>Sunscreen SPF50</c:v>
                </c:pt>
                <c:pt idx="1">
                  <c:v>Wireless Mouse</c:v>
                </c:pt>
                <c:pt idx="2">
                  <c:v>Throw Pillow</c:v>
                </c:pt>
                <c:pt idx="3">
                  <c:v>Webcam HD</c:v>
                </c:pt>
                <c:pt idx="4">
                  <c:v>Jump Rope</c:v>
                </c:pt>
                <c:pt idx="5">
                  <c:v>Ceramic Mug Set</c:v>
                </c:pt>
                <c:pt idx="6">
                  <c:v>USB-C Cable</c:v>
                </c:pt>
                <c:pt idx="7">
                  <c:v>Face Moisturizer</c:v>
                </c:pt>
                <c:pt idx="8">
                  <c:v>LED Desk Lamp</c:v>
                </c:pt>
                <c:pt idx="9">
                  <c:v>Wool Sweater</c:v>
                </c:pt>
              </c:strCache>
            </c:strRef>
          </c:cat>
          <c:val>
            <c:numRef>
              <c:f>Sheet1!$B$2:$B$11</c:f>
              <c:numCache>
                <c:formatCode>General</c:formatCode>
                <c:ptCount val="10"/>
                <c:pt idx="0">
                  <c:v>14857.94</c:v>
                </c:pt>
                <c:pt idx="1">
                  <c:v>15362.28</c:v>
                </c:pt>
                <c:pt idx="2">
                  <c:v>16427.56</c:v>
                </c:pt>
                <c:pt idx="3">
                  <c:v>16581.91</c:v>
                </c:pt>
                <c:pt idx="4">
                  <c:v>16987.89</c:v>
                </c:pt>
                <c:pt idx="5">
                  <c:v>17045.74</c:v>
                </c:pt>
                <c:pt idx="6">
                  <c:v>18234.42</c:v>
                </c:pt>
                <c:pt idx="7">
                  <c:v>19507.14</c:v>
                </c:pt>
                <c:pt idx="8">
                  <c:v>20759.23</c:v>
                </c:pt>
                <c:pt idx="9">
                  <c:v>21302.42</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b"/>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dispBlanksAs val="gap"/>
  </c:chart>
  <c:txPr>
    <a:bodyPr/>
    <a:lstStyle/>
    <a:p>
      <a:pPr>
        <a:defRPr sz="1000">
          <a:solidFill>
            <a:srgbClr val="212529"/>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Revenue</c:v>
                </c:pt>
              </c:strCache>
            </c:strRef>
          </c:tx>
          <c:spPr>
            <a:solidFill>
              <a:srgbClr val="96A0AA"/>
            </a:solidFill>
            <a:ln>
              <a:noFill/>
            </a:ln>
          </c:spPr>
          <c:cat>
            <c:strRef>
              <c:f>Sheet1!$A$2:$A$11</c:f>
              <c:strCache>
                <c:ptCount val="10"/>
                <c:pt idx="0">
                  <c:v>East Joanborough</c:v>
                </c:pt>
                <c:pt idx="1">
                  <c:v>West Timothyport</c:v>
                </c:pt>
                <c:pt idx="2">
                  <c:v>Port Kathyshire</c:v>
                </c:pt>
                <c:pt idx="3">
                  <c:v>West Meredith</c:v>
                </c:pt>
                <c:pt idx="4">
                  <c:v>Wigginsshire</c:v>
                </c:pt>
                <c:pt idx="5">
                  <c:v>Griffinfurt</c:v>
                </c:pt>
                <c:pt idx="6">
                  <c:v>Hortonberg</c:v>
                </c:pt>
                <c:pt idx="7">
                  <c:v>Davidside</c:v>
                </c:pt>
                <c:pt idx="8">
                  <c:v>Stevenchester</c:v>
                </c:pt>
                <c:pt idx="9">
                  <c:v>Michaelview</c:v>
                </c:pt>
              </c:strCache>
            </c:strRef>
          </c:cat>
          <c:val>
            <c:numRef>
              <c:f>Sheet1!$B$2:$B$11</c:f>
              <c:numCache>
                <c:formatCode>General</c:formatCode>
                <c:ptCount val="10"/>
                <c:pt idx="0">
                  <c:v>1914.16</c:v>
                </c:pt>
                <c:pt idx="1">
                  <c:v>1921.28</c:v>
                </c:pt>
                <c:pt idx="2">
                  <c:v>1925.04</c:v>
                </c:pt>
                <c:pt idx="3">
                  <c:v>1934.32</c:v>
                </c:pt>
                <c:pt idx="4">
                  <c:v>1935.92</c:v>
                </c:pt>
                <c:pt idx="5">
                  <c:v>1940.48</c:v>
                </c:pt>
                <c:pt idx="6">
                  <c:v>1962.4</c:v>
                </c:pt>
                <c:pt idx="7">
                  <c:v>1974.93</c:v>
                </c:pt>
                <c:pt idx="8">
                  <c:v>2956.76</c:v>
                </c:pt>
                <c:pt idx="9">
                  <c:v>3106.39</c:v>
                </c:pt>
              </c:numCache>
            </c:numRef>
          </c:val>
        </c:ser>
        <c:dLbls>
          <c:numFmt formatCode="#,##0" sourceLinked="0"/>
          <c:txPr>
            <a:bodyPr/>
            <a:lstStyle/>
            <a:p>
              <a:pPr>
                <a:defRPr sz="900">
                  <a:solidFill>
                    <a:srgbClr val="21252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BE1"/>
            </a:solidFill>
          </a:ln>
        </c:spPr>
        <c:txPr>
          <a:bodyPr/>
          <a:lstStyle/>
          <a:p>
            <a:pPr>
              <a:defRPr sz="1000"/>
            </a:pPr>
          </a:p>
        </c:txPr>
        <c:crossAx val="-2113994440"/>
        <c:crosses val="autoZero"/>
        <c:auto val="1"/>
        <c:lblAlgn val="ctr"/>
        <c:lblOffset val="100"/>
        <c:noMultiLvlLbl val="0"/>
      </c:catAx>
      <c:valAx>
        <c:axId val="-2113994440"/>
        <c:scaling/>
        <c:delete val="0"/>
        <c:axPos val="b"/>
        <c:majorGridlines>
          <c:spPr>
            <a:ln>
              <a:solidFill>
                <a:srgbClr val="E2E6EA"/>
              </a:solidFill>
            </a:ln>
          </c:spPr>
        </c:majorGridlines>
        <c:numFmt formatCode="#,##0" sourceLinked="0"/>
        <c:majorTickMark val="out"/>
        <c:minorTickMark val="none"/>
        <c:tickLblPos val="nextTo"/>
        <c:spPr>
          <a:ln>
            <a:solidFill>
              <a:srgbClr val="D5DBE1"/>
            </a:solidFill>
          </a:ln>
        </c:spPr>
        <c:txPr>
          <a:bodyPr/>
          <a:lstStyle/>
          <a:p>
            <a:pPr>
              <a:defRPr sz="1000"/>
            </a:pPr>
          </a:p>
        </c:txPr>
        <c:crossAx val="-2068027336"/>
        <c:crosses val="autoZero"/>
      </c:valAx>
    </c:plotArea>
    <c:dispBlanksAs val="gap"/>
  </c:chart>
  <c:txPr>
    <a:bodyPr/>
    <a:lstStyle/>
    <a:p>
      <a:pPr>
        <a:defRPr sz="1000">
          <a:solidFill>
            <a:srgbClr val="212529"/>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project presentation covering all four internship tasks: data sourcing and cleaning, analysis, interactive dashboard, and business insights.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sections, roughly ten minutes, with time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a decision-quality issue, not a data-entry complaint. Each question maps to a real decision: prioritisation, forecasting, retention.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the row count is sound and Sales reconciles perfectly - the problems are in labels, types and coverage, not in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'NA' is text, a chart reads it as a real category. The dashboard showed 'NA' as if it were a country, ranked alongside Australia and India.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that matter most: the 'NA' sentinel, the country labels, and the date parsing. The rule applied throughout: correct what is provably wrong, label what is merely missing, never invent a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United Kingdom changes, but the change is decisive: the merged UK is 69,745.83 and moves from rank 5 to rank 2, ahead of India and Canada.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2024 records only 29 orders between January and September, then 71 in the final quarter. 2026 records 23 orders after September against 78 in the same 2025 quarter. Only 2025 is complete and evenly distributed.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is flat at -0.3%, order count is down 2.5% and average order value is up 2.3%. The reported 21.8% decline for 2026 was a truncated extract.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balanced portfolio, not a concentrated one. Unknown represents 8.5% of revenue with no destination recorded.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categories sit between 16.7% and 21.1% of revenue. Beauty has the highest average order value at 615.56 despite ranking fourth on revenue.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card leads on revenue as well as order count. The operational question is the cost of cash on delivery at a fifth of orders.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leading product is only 5.8% of revenue across 25 products. Range decisions should be driven by margin and availability, not by chasing a breakout product.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586 distinct shipping cities, and the top ten together are only 5.9% of revenue. The largest city records two orders.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interactive and well structured; the errors were in the data, not the design. Correcting the source fixes both without rebuilding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inviting questions on the two corrections, since those are the most consequential findings.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880360"/>
            <a:ext cx="201168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058400" cy="457200"/>
          </a:xfrm>
          <a:prstGeom prst="rect">
            <a:avLst/>
          </a:prstGeom>
          <a:noFill/>
        </p:spPr>
        <p:txBody>
          <a:bodyPr wrap="square" anchor="t" lIns="0" rIns="0" tIns="0" bIns="0">
            <a:spAutoFit/>
          </a:bodyPr>
          <a:lstStyle/>
          <a:p>
            <a:pPr algn="l">
              <a:lnSpc>
                <a:spcPct val="100000"/>
              </a:lnSpc>
            </a:pPr>
            <a:r>
              <a:rPr sz="1400" b="1" i="0">
                <a:solidFill>
                  <a:srgbClr val="9CC3E0"/>
                </a:solidFill>
                <a:latin typeface="Arial"/>
              </a:rPr>
              <a:t>FINAL INTERNSHIP PROJECT</a:t>
            </a:r>
          </a:p>
        </p:txBody>
      </p:sp>
      <p:sp>
        <p:nvSpPr>
          <p:cNvPr id="5" name="TextBox 4"/>
          <p:cNvSpPr txBox="1"/>
          <p:nvPr/>
        </p:nvSpPr>
        <p:spPr>
          <a:xfrm>
            <a:off x="914400" y="2148840"/>
            <a:ext cx="10424160" cy="731520"/>
          </a:xfrm>
          <a:prstGeom prst="rect">
            <a:avLst/>
          </a:prstGeom>
          <a:noFill/>
        </p:spPr>
        <p:txBody>
          <a:bodyPr wrap="square" anchor="t" lIns="0" rIns="0" tIns="0" bIns="0">
            <a:spAutoFit/>
          </a:bodyPr>
          <a:lstStyle/>
          <a:p>
            <a:pPr algn="l">
              <a:lnSpc>
                <a:spcPct val="100000"/>
              </a:lnSpc>
            </a:pPr>
            <a:r>
              <a:rPr sz="4200" b="1" i="0">
                <a:solidFill>
                  <a:srgbClr val="FFFFFF"/>
                </a:solidFill>
                <a:latin typeface="Arial"/>
              </a:rPr>
              <a:t>Retail Sales Data Analysis</a:t>
            </a:r>
          </a:p>
        </p:txBody>
      </p:sp>
      <p:sp>
        <p:nvSpPr>
          <p:cNvPr id="6" name="TextBox 5"/>
          <p:cNvSpPr txBox="1"/>
          <p:nvPr/>
        </p:nvSpPr>
        <p:spPr>
          <a:xfrm>
            <a:off x="914400" y="3154680"/>
            <a:ext cx="10424160" cy="457200"/>
          </a:xfrm>
          <a:prstGeom prst="rect">
            <a:avLst/>
          </a:prstGeom>
          <a:noFill/>
        </p:spPr>
        <p:txBody>
          <a:bodyPr wrap="square" anchor="t" lIns="0" rIns="0" tIns="0" bIns="0">
            <a:spAutoFit/>
          </a:bodyPr>
          <a:lstStyle/>
          <a:p>
            <a:pPr algn="l">
              <a:lnSpc>
                <a:spcPct val="100000"/>
              </a:lnSpc>
            </a:pPr>
            <a:r>
              <a:rPr sz="1900" b="0" i="0">
                <a:solidFill>
                  <a:srgbClr val="C9DDEC"/>
                </a:solidFill>
                <a:latin typeface="Arial"/>
              </a:rPr>
              <a:t>From raw data to business insight</a:t>
            </a:r>
          </a:p>
        </p:txBody>
      </p:sp>
      <p:sp>
        <p:nvSpPr>
          <p:cNvPr id="7" name="TextBox 6"/>
          <p:cNvSpPr txBox="1"/>
          <p:nvPr/>
        </p:nvSpPr>
        <p:spPr>
          <a:xfrm>
            <a:off x="914400" y="3977639"/>
            <a:ext cx="10424160" cy="1280160"/>
          </a:xfrm>
          <a:prstGeom prst="rect">
            <a:avLst/>
          </a:prstGeom>
          <a:noFill/>
        </p:spPr>
        <p:txBody>
          <a:bodyPr wrap="square" anchor="t" lIns="0" rIns="0" tIns="0" bIns="0">
            <a:spAutoFit/>
          </a:bodyPr>
          <a:lstStyle/>
          <a:p>
            <a:pPr algn="l">
              <a:lnSpc>
                <a:spcPct val="135000"/>
              </a:lnSpc>
            </a:pPr>
            <a:r>
              <a:rPr sz="1300" b="0" i="0">
                <a:solidFill>
                  <a:srgbClr val="C9DDEC"/>
                </a:solidFill>
                <a:latin typeface="Arial"/>
              </a:rPr>
              <a:t>Data acquisition and cleaning  |  Analysis  |  Interactive dashboard  |  Business insights
626 orders  |  365,723.12 revenue  |  11 Jan 2024 to 09 Dec 2026</a:t>
            </a:r>
          </a:p>
        </p:txBody>
      </p:sp>
      <p:sp>
        <p:nvSpPr>
          <p:cNvPr id="8" name="TextBox 7"/>
          <p:cNvSpPr txBox="1"/>
          <p:nvPr/>
        </p:nvSpPr>
        <p:spPr>
          <a:xfrm>
            <a:off x="914400" y="5715000"/>
            <a:ext cx="10424160" cy="731520"/>
          </a:xfrm>
          <a:prstGeom prst="rect">
            <a:avLst/>
          </a:prstGeom>
          <a:noFill/>
        </p:spPr>
        <p:txBody>
          <a:bodyPr wrap="square" anchor="t" lIns="0" rIns="0" tIns="0" bIns="0">
            <a:spAutoFit/>
          </a:bodyPr>
          <a:lstStyle/>
          <a:p>
            <a:pPr algn="l">
              <a:lnSpc>
                <a:spcPct val="100000"/>
              </a:lnSpc>
            </a:pPr>
            <a:r>
              <a:rPr sz="1200" b="0" i="0">
                <a:solidFill>
                  <a:srgbClr val="9CC3E0"/>
                </a:solidFill>
                <a:latin typeface="Arial"/>
              </a:rPr>
              <a:t>Prepared by [Intern name]  |  Swynex  |  Final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OVERVIEW</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Agenda</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What this presentation covers</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15600" cy="3840480"/>
          </a:xfrm>
          <a:prstGeom prst="rect">
            <a:avLst/>
          </a:prstGeom>
          <a:noFill/>
        </p:spPr>
        <p:txBody>
          <a:bodyPr wrap="square" lIns="0" rIns="0">
            <a:spAutoFit/>
          </a:bodyPr>
          <a:lstStyle/>
          <a:p>
            <a:pPr>
              <a:lnSpc>
                <a:spcPct val="105000"/>
              </a:lnSpc>
              <a:spcAft>
                <a:spcPts val="1600"/>
              </a:spcAft>
            </a:pPr>
            <a:r>
              <a:rPr sz="1700">
                <a:solidFill>
                  <a:srgbClr val="212529"/>
                </a:solidFill>
                <a:latin typeface="Arial"/>
              </a:rPr>
              <a:t>The problem statement and the business questions behind the project</a:t>
            </a:r>
          </a:p>
          <a:p>
            <a:pPr>
              <a:lnSpc>
                <a:spcPct val="105000"/>
              </a:lnSpc>
              <a:spcAft>
                <a:spcPts val="1600"/>
              </a:spcAft>
            </a:pPr>
            <a:r>
              <a:rPr sz="1700">
                <a:solidFill>
                  <a:srgbClr val="212529"/>
                </a:solidFill>
                <a:latin typeface="Arial"/>
              </a:rPr>
              <a:t>The dataset: what it contains and how trustworthy it is</a:t>
            </a:r>
          </a:p>
          <a:p>
            <a:pPr>
              <a:lnSpc>
                <a:spcPct val="105000"/>
              </a:lnSpc>
              <a:spcAft>
                <a:spcPts val="1600"/>
              </a:spcAft>
            </a:pPr>
            <a:r>
              <a:rPr sz="1700">
                <a:solidFill>
                  <a:srgbClr val="212529"/>
                </a:solidFill>
                <a:latin typeface="Arial"/>
              </a:rPr>
              <a:t>The cleaning process, including two silent defects that were fixed</a:t>
            </a:r>
          </a:p>
          <a:p>
            <a:pPr>
              <a:lnSpc>
                <a:spcPct val="105000"/>
              </a:lnSpc>
              <a:spcAft>
                <a:spcPts val="1600"/>
              </a:spcAft>
            </a:pPr>
            <a:r>
              <a:rPr sz="1700">
                <a:solidFill>
                  <a:srgbClr val="212529"/>
                </a:solidFill>
                <a:latin typeface="Arial"/>
              </a:rPr>
              <a:t>The analysis: markets, categories, trend, payments and customers</a:t>
            </a:r>
          </a:p>
          <a:p>
            <a:pPr>
              <a:lnSpc>
                <a:spcPct val="105000"/>
              </a:lnSpc>
              <a:spcAft>
                <a:spcPts val="1600"/>
              </a:spcAft>
            </a:pPr>
            <a:r>
              <a:rPr sz="1700">
                <a:solidFill>
                  <a:srgbClr val="212529"/>
                </a:solidFill>
                <a:latin typeface="Arial"/>
              </a:rPr>
              <a:t>The interactive dashboard built in Task 3</a:t>
            </a:r>
          </a:p>
          <a:p>
            <a:pPr>
              <a:lnSpc>
                <a:spcPct val="105000"/>
              </a:lnSpc>
              <a:spcAft>
                <a:spcPts val="1600"/>
              </a:spcAft>
            </a:pPr>
            <a:r>
              <a:rPr sz="1700">
                <a:solidFill>
                  <a:srgbClr val="212529"/>
                </a:solidFill>
                <a:latin typeface="Arial"/>
              </a:rPr>
              <a:t>Key business insights and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1</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Problem Statement</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Why this project was needed</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60"/>
            <a:ext cx="10972800" cy="1828800"/>
          </a:xfrm>
          <a:prstGeom prst="rect">
            <a:avLst/>
          </a:prstGeom>
          <a:noFill/>
        </p:spPr>
        <p:txBody>
          <a:bodyPr wrap="square" lIns="0" rIns="0">
            <a:spAutoFit/>
          </a:bodyPr>
          <a:lstStyle/>
          <a:p>
            <a:pPr>
              <a:lnSpc>
                <a:spcPct val="105000"/>
              </a:lnSpc>
              <a:spcAft>
                <a:spcPts val="1000"/>
              </a:spcAft>
            </a:pPr>
            <a:r>
              <a:rPr sz="1500">
                <a:solidFill>
                  <a:srgbClr val="212529"/>
                </a:solidFill>
                <a:latin typeface="Arial"/>
              </a:rPr>
              <a:t>Sales data arrives from several systems as a single flat file, mixing transactional records with pasted reporting fragments.</a:t>
            </a:r>
          </a:p>
          <a:p>
            <a:pPr>
              <a:lnSpc>
                <a:spcPct val="105000"/>
              </a:lnSpc>
              <a:spcAft>
                <a:spcPts val="1000"/>
              </a:spcAft>
            </a:pPr>
            <a:r>
              <a:rPr sz="1500">
                <a:solidFill>
                  <a:srgbClr val="212529"/>
                </a:solidFill>
                <a:latin typeface="Arial"/>
              </a:rPr>
              <a:t>The raw file cannot be queried or charted safely: a displaced header, missing values typed as text, inconsistent country names and dates stored as strings.</a:t>
            </a:r>
          </a:p>
          <a:p>
            <a:pPr>
              <a:lnSpc>
                <a:spcPct val="105000"/>
              </a:lnSpc>
              <a:spcAft>
                <a:spcPts val="1000"/>
              </a:spcAft>
            </a:pPr>
            <a:r>
              <a:rPr sz="1500">
                <a:solidFill>
                  <a:srgbClr val="212529"/>
                </a:solidFill>
                <a:latin typeface="Arial"/>
              </a:rPr>
              <a:t>Every figure taken directly from the raw file is therefore unreliable.</a:t>
            </a:r>
          </a:p>
        </p:txBody>
      </p:sp>
      <p:sp>
        <p:nvSpPr>
          <p:cNvPr id="8" name="TextBox 7"/>
          <p:cNvSpPr txBox="1"/>
          <p:nvPr/>
        </p:nvSpPr>
        <p:spPr>
          <a:xfrm>
            <a:off x="640080" y="3886200"/>
            <a:ext cx="10972800" cy="32004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The business questions</a:t>
            </a:r>
          </a:p>
        </p:txBody>
      </p:sp>
      <p:sp>
        <p:nvSpPr>
          <p:cNvPr id="9" name="TextBox 8"/>
          <p:cNvSpPr txBox="1"/>
          <p:nvPr/>
        </p:nvSpPr>
        <p:spPr>
          <a:xfrm>
            <a:off x="822960" y="4343400"/>
            <a:ext cx="10789920" cy="1645920"/>
          </a:xfrm>
          <a:prstGeom prst="rect">
            <a:avLst/>
          </a:prstGeom>
          <a:noFill/>
        </p:spPr>
        <p:txBody>
          <a:bodyPr wrap="square" lIns="0" rIns="0">
            <a:spAutoFit/>
          </a:bodyPr>
          <a:lstStyle/>
          <a:p>
            <a:pPr>
              <a:lnSpc>
                <a:spcPct val="105000"/>
              </a:lnSpc>
              <a:spcAft>
                <a:spcPts val="700"/>
              </a:spcAft>
            </a:pPr>
            <a:r>
              <a:rPr sz="1400">
                <a:solidFill>
                  <a:srgbClr val="212529"/>
                </a:solidFill>
                <a:latin typeface="Arial"/>
              </a:rPr>
              <a:t>Which markets and product categories generate the most revenue?</a:t>
            </a:r>
          </a:p>
          <a:p>
            <a:pPr>
              <a:lnSpc>
                <a:spcPct val="105000"/>
              </a:lnSpc>
              <a:spcAft>
                <a:spcPts val="700"/>
              </a:spcAft>
            </a:pPr>
            <a:r>
              <a:rPr sz="1400">
                <a:solidFill>
                  <a:srgbClr val="212529"/>
                </a:solidFill>
                <a:latin typeface="Arial"/>
              </a:rPr>
              <a:t>Is revenue growing, flat or declining once data coverage is accounted for?</a:t>
            </a:r>
          </a:p>
          <a:p>
            <a:pPr>
              <a:lnSpc>
                <a:spcPct val="105000"/>
              </a:lnSpc>
              <a:spcAft>
                <a:spcPts val="700"/>
              </a:spcAft>
            </a:pPr>
            <a:r>
              <a:rPr sz="1400">
                <a:solidFill>
                  <a:srgbClr val="212529"/>
                </a:solidFill>
                <a:latin typeface="Arial"/>
              </a:rPr>
              <a:t>How do customers pay, and do they come 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2</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The Dataset at a Glance</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Source: messy_retail_orders.csv as supplied for Task 1</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65960"/>
            <a:ext cx="2057400" cy="1325880"/>
          </a:xfrm>
          <a:prstGeom prst="roundRect">
            <a:avLst>
              <a:gd name="adj" fmla="val 8000"/>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sz="2400" b="1">
                <a:solidFill>
                  <a:srgbClr val="1F4E79"/>
                </a:solidFill>
                <a:latin typeface="Arial"/>
              </a:rPr>
              <a:t>626</a:t>
            </a:r>
          </a:p>
          <a:p>
            <a:pPr algn="ctr"/>
            <a:r>
              <a:rPr sz="1100">
                <a:solidFill>
                  <a:srgbClr val="5C6670"/>
                </a:solidFill>
                <a:latin typeface="Arial"/>
              </a:rPr>
              <a:t>Orders</a:t>
            </a:r>
          </a:p>
        </p:txBody>
      </p:sp>
      <p:sp>
        <p:nvSpPr>
          <p:cNvPr id="8" name="Rounded Rectangle 7"/>
          <p:cNvSpPr/>
          <p:nvPr/>
        </p:nvSpPr>
        <p:spPr>
          <a:xfrm>
            <a:off x="2807208" y="1965960"/>
            <a:ext cx="2057400" cy="1325880"/>
          </a:xfrm>
          <a:prstGeom prst="roundRect">
            <a:avLst>
              <a:gd name="adj" fmla="val 8000"/>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sz="2400" b="1">
                <a:solidFill>
                  <a:srgbClr val="1F4E79"/>
                </a:solidFill>
                <a:latin typeface="Arial"/>
              </a:rPr>
              <a:t>365,723.12</a:t>
            </a:r>
          </a:p>
          <a:p>
            <a:pPr algn="ctr"/>
            <a:r>
              <a:rPr sz="1100">
                <a:solidFill>
                  <a:srgbClr val="5C6670"/>
                </a:solidFill>
                <a:latin typeface="Arial"/>
              </a:rPr>
              <a:t>Total revenue</a:t>
            </a:r>
          </a:p>
        </p:txBody>
      </p:sp>
      <p:sp>
        <p:nvSpPr>
          <p:cNvPr id="9" name="Rounded Rectangle 8"/>
          <p:cNvSpPr/>
          <p:nvPr/>
        </p:nvSpPr>
        <p:spPr>
          <a:xfrm>
            <a:off x="5065776" y="1965960"/>
            <a:ext cx="2057400" cy="1325880"/>
          </a:xfrm>
          <a:prstGeom prst="roundRect">
            <a:avLst>
              <a:gd name="adj" fmla="val 8000"/>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sz="2400" b="1">
                <a:solidFill>
                  <a:srgbClr val="1F4E79"/>
                </a:solidFill>
                <a:latin typeface="Arial"/>
              </a:rPr>
              <a:t>584.22</a:t>
            </a:r>
          </a:p>
          <a:p>
            <a:pPr algn="ctr"/>
            <a:r>
              <a:rPr sz="1100">
                <a:solidFill>
                  <a:srgbClr val="5C6670"/>
                </a:solidFill>
                <a:latin typeface="Arial"/>
              </a:rPr>
              <a:t>Average order value</a:t>
            </a:r>
          </a:p>
        </p:txBody>
      </p:sp>
      <p:sp>
        <p:nvSpPr>
          <p:cNvPr id="10" name="Rounded Rectangle 9"/>
          <p:cNvSpPr/>
          <p:nvPr/>
        </p:nvSpPr>
        <p:spPr>
          <a:xfrm>
            <a:off x="7324344" y="1965960"/>
            <a:ext cx="2057400" cy="1325880"/>
          </a:xfrm>
          <a:prstGeom prst="roundRect">
            <a:avLst>
              <a:gd name="adj" fmla="val 8000"/>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sz="2400" b="1">
                <a:solidFill>
                  <a:srgbClr val="1F4E79"/>
                </a:solidFill>
                <a:latin typeface="Arial"/>
              </a:rPr>
              <a:t>577</a:t>
            </a:r>
          </a:p>
          <a:p>
            <a:pPr algn="ctr"/>
            <a:r>
              <a:rPr sz="1100">
                <a:solidFill>
                  <a:srgbClr val="5C6670"/>
                </a:solidFill>
                <a:latin typeface="Arial"/>
              </a:rPr>
              <a:t>Customers</a:t>
            </a:r>
          </a:p>
        </p:txBody>
      </p:sp>
      <p:sp>
        <p:nvSpPr>
          <p:cNvPr id="11" name="Rounded Rectangle 10"/>
          <p:cNvSpPr/>
          <p:nvPr/>
        </p:nvSpPr>
        <p:spPr>
          <a:xfrm>
            <a:off x="9582912" y="1965960"/>
            <a:ext cx="2057400" cy="1325880"/>
          </a:xfrm>
          <a:prstGeom prst="roundRect">
            <a:avLst>
              <a:gd name="adj" fmla="val 8000"/>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sz="2400" b="1">
                <a:solidFill>
                  <a:srgbClr val="1F4E79"/>
                </a:solidFill>
                <a:latin typeface="Arial"/>
              </a:rPr>
              <a:t>25</a:t>
            </a:r>
          </a:p>
          <a:p>
            <a:pPr algn="ctr"/>
            <a:r>
              <a:rPr sz="1100">
                <a:solidFill>
                  <a:srgbClr val="5C6670"/>
                </a:solidFill>
                <a:latin typeface="Arial"/>
              </a:rPr>
              <a:t>Products</a:t>
            </a:r>
          </a:p>
        </p:txBody>
      </p:sp>
      <p:graphicFrame>
        <p:nvGraphicFramePr>
          <p:cNvPr id="12" name="Table 11"/>
          <p:cNvGraphicFramePr>
            <a:graphicFrameLocks noGrp="1"/>
          </p:cNvGraphicFramePr>
          <p:nvPr/>
        </p:nvGraphicFramePr>
        <p:xfrm>
          <a:off x="640080" y="3611880"/>
          <a:ext cx="10972799" cy="2286000"/>
        </p:xfrm>
        <a:graphic>
          <a:graphicData uri="http://schemas.openxmlformats.org/drawingml/2006/table">
            <a:tbl>
              <a:tblPr firstRow="1" bandRow="1">
                <a:tableStyleId>{5C22544A-7EE6-4342-B048-85BDC9FD1C3A}</a:tableStyleId>
              </a:tblPr>
              <a:tblGrid>
                <a:gridCol w="2774731"/>
                <a:gridCol w="8198068"/>
              </a:tblGrid>
              <a:tr h="381000">
                <a:tc>
                  <a:txBody>
                    <a:bodyPr/>
                    <a:lstStyle/>
                    <a:p>
                      <a:r>
                        <a:rPr sz="1100" b="1">
                          <a:solidFill>
                            <a:srgbClr val="FFFFFF"/>
                          </a:solidFill>
                          <a:latin typeface="Arial"/>
                        </a:rPr>
                        <a:t>Attribute</a:t>
                      </a:r>
                    </a:p>
                  </a:txBody>
                  <a:tcPr marL="63500" marR="63500" marT="25400" marB="25400">
                    <a:solidFill>
                      <a:srgbClr val="1F4E79"/>
                    </a:solidFill>
                  </a:tcPr>
                </a:tc>
                <a:tc>
                  <a:txBody>
                    <a:bodyPr/>
                    <a:lstStyle/>
                    <a:p>
                      <a:r>
                        <a:rPr sz="1100" b="1">
                          <a:solidFill>
                            <a:srgbClr val="FFFFFF"/>
                          </a:solidFill>
                          <a:latin typeface="Arial"/>
                        </a:rPr>
                        <a:t>Detail</a:t>
                      </a:r>
                    </a:p>
                  </a:txBody>
                  <a:tcPr marL="63500" marR="63500" marT="25400" marB="25400">
                    <a:solidFill>
                      <a:srgbClr val="1F4E79"/>
                    </a:solidFill>
                  </a:tcPr>
                </a:tc>
              </a:tr>
              <a:tr h="381000">
                <a:tc>
                  <a:txBody>
                    <a:bodyPr/>
                    <a:lstStyle/>
                    <a:p>
                      <a:r>
                        <a:rPr sz="1100">
                          <a:solidFill>
                            <a:srgbClr val="212529"/>
                          </a:solidFill>
                          <a:latin typeface="Arial"/>
                        </a:rPr>
                        <a:t>Period covered</a:t>
                      </a:r>
                    </a:p>
                  </a:txBody>
                  <a:tcPr marL="63500" marR="63500" marT="25400" marB="25400">
                    <a:solidFill>
                      <a:srgbClr val="FFFFFF"/>
                    </a:solidFill>
                  </a:tcPr>
                </a:tc>
                <a:tc>
                  <a:txBody>
                    <a:bodyPr/>
                    <a:lstStyle/>
                    <a:p>
                      <a:r>
                        <a:rPr sz="1100">
                          <a:solidFill>
                            <a:srgbClr val="212529"/>
                          </a:solidFill>
                          <a:latin typeface="Arial"/>
                        </a:rPr>
                        <a:t>11 Jan 2024 to 09 Dec 2026</a:t>
                      </a:r>
                    </a:p>
                  </a:txBody>
                  <a:tcPr marL="63500" marR="63500" marT="25400" marB="25400">
                    <a:solidFill>
                      <a:srgbClr val="FFFFFF"/>
                    </a:solidFill>
                  </a:tcPr>
                </a:tc>
              </a:tr>
              <a:tr h="381000">
                <a:tc>
                  <a:txBody>
                    <a:bodyPr/>
                    <a:lstStyle/>
                    <a:p>
                      <a:r>
                        <a:rPr sz="1100">
                          <a:solidFill>
                            <a:srgbClr val="212529"/>
                          </a:solidFill>
                          <a:latin typeface="Arial"/>
                        </a:rPr>
                        <a:t>Fields in file</a:t>
                      </a:r>
                    </a:p>
                  </a:txBody>
                  <a:tcPr marL="63500" marR="63500" marT="25400" marB="25400">
                    <a:solidFill>
                      <a:srgbClr val="EEF3F8"/>
                    </a:solidFill>
                  </a:tcPr>
                </a:tc>
                <a:tc>
                  <a:txBody>
                    <a:bodyPr/>
                    <a:lstStyle/>
                    <a:p>
                      <a:r>
                        <a:rPr sz="1100">
                          <a:solidFill>
                            <a:srgbClr val="212529"/>
                          </a:solidFill>
                          <a:latin typeface="Arial"/>
                        </a:rPr>
                        <a:t>15 columns, of which only 12 are real data</a:t>
                      </a:r>
                    </a:p>
                  </a:txBody>
                  <a:tcPr marL="63500" marR="63500" marT="25400" marB="25400">
                    <a:solidFill>
                      <a:srgbClr val="EEF3F8"/>
                    </a:solidFill>
                  </a:tcPr>
                </a:tc>
              </a:tr>
              <a:tr h="381000">
                <a:tc>
                  <a:txBody>
                    <a:bodyPr/>
                    <a:lstStyle/>
                    <a:p>
                      <a:r>
                        <a:rPr sz="1100">
                          <a:solidFill>
                            <a:srgbClr val="212529"/>
                          </a:solidFill>
                          <a:latin typeface="Arial"/>
                        </a:rPr>
                        <a:t>Structural defect</a:t>
                      </a:r>
                    </a:p>
                  </a:txBody>
                  <a:tcPr marL="63500" marR="63500" marT="25400" marB="25400">
                    <a:solidFill>
                      <a:srgbClr val="FFFFFF"/>
                    </a:solidFill>
                  </a:tcPr>
                </a:tc>
                <a:tc>
                  <a:txBody>
                    <a:bodyPr/>
                    <a:lstStyle/>
                    <a:p>
                      <a:r>
                        <a:rPr sz="1100">
                          <a:solidFill>
                            <a:srgbClr val="212529"/>
                          </a:solidFill>
                          <a:latin typeface="Arial"/>
                        </a:rPr>
                        <a:t>Header on line 2 under a blank row; a pivot table pasted into columns N-P</a:t>
                      </a:r>
                    </a:p>
                  </a:txBody>
                  <a:tcPr marL="63500" marR="63500" marT="25400" marB="25400">
                    <a:solidFill>
                      <a:srgbClr val="FFFFFF"/>
                    </a:solidFill>
                  </a:tcPr>
                </a:tc>
              </a:tr>
              <a:tr h="381000">
                <a:tc>
                  <a:txBody>
                    <a:bodyPr/>
                    <a:lstStyle/>
                    <a:p>
                      <a:r>
                        <a:rPr sz="1100">
                          <a:solidFill>
                            <a:srgbClr val="212529"/>
                          </a:solidFill>
                          <a:latin typeface="Arial"/>
                        </a:rPr>
                        <a:t>Missing values</a:t>
                      </a:r>
                    </a:p>
                  </a:txBody>
                  <a:tcPr marL="63500" marR="63500" marT="25400" marB="25400">
                    <a:solidFill>
                      <a:srgbClr val="EEF3F8"/>
                    </a:solidFill>
                  </a:tcPr>
                </a:tc>
                <a:tc>
                  <a:txBody>
                    <a:bodyPr/>
                    <a:lstStyle/>
                    <a:p>
                      <a:r>
                        <a:rPr sz="1100">
                          <a:solidFill>
                            <a:srgbClr val="212529"/>
                          </a:solidFill>
                          <a:latin typeface="Arial"/>
                        </a:rPr>
                        <a:t>198 cells, all stored as the literal text 'NA'</a:t>
                      </a:r>
                    </a:p>
                  </a:txBody>
                  <a:tcPr marL="63500" marR="63500" marT="25400" marB="25400">
                    <a:solidFill>
                      <a:srgbClr val="EEF3F8"/>
                    </a:solidFill>
                  </a:tcPr>
                </a:tc>
              </a:tr>
              <a:tr h="381000">
                <a:tc>
                  <a:txBody>
                    <a:bodyPr/>
                    <a:lstStyle/>
                    <a:p>
                      <a:r>
                        <a:rPr sz="1100">
                          <a:solidFill>
                            <a:srgbClr val="212529"/>
                          </a:solidFill>
                          <a:latin typeface="Arial"/>
                        </a:rPr>
                        <a:t>Data integrity</a:t>
                      </a:r>
                    </a:p>
                  </a:txBody>
                  <a:tcPr marL="63500" marR="63500" marT="25400" marB="25400">
                    <a:solidFill>
                      <a:srgbClr val="FFFFFF"/>
                    </a:solidFill>
                  </a:tcPr>
                </a:tc>
                <a:tc>
                  <a:txBody>
                    <a:bodyPr/>
                    <a:lstStyle/>
                    <a:p>
                      <a:r>
                        <a:rPr sz="1100">
                          <a:solidFill>
                            <a:srgbClr val="212529"/>
                          </a:solidFill>
                          <a:latin typeface="Arial"/>
                        </a:rPr>
                        <a:t>0 duplicate records; Sales reconciles on all 626 rows</a:t>
                      </a:r>
                    </a:p>
                  </a:txBody>
                  <a:tcPr marL="63500" marR="63500" marT="25400" marB="2540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3</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Data Quality: What Was Wrong</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198 cells stored the literal text 'NA' instead of being left empty</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2148840"/>
          <a:ext cx="10515600" cy="402336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3</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The Cleaning Process</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Ten documented, reproducible steps - no value was invented</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1783080"/>
          <a:ext cx="11247118" cy="4160520"/>
        </p:xfrm>
        <a:graphic>
          <a:graphicData uri="http://schemas.openxmlformats.org/drawingml/2006/table">
            <a:tbl>
              <a:tblPr firstRow="1" bandRow="1">
                <a:tableStyleId>{5C22544A-7EE6-4342-B048-85BDC9FD1C3A}</a:tableStyleId>
              </a:tblPr>
              <a:tblGrid>
                <a:gridCol w="384047"/>
                <a:gridCol w="3950208"/>
                <a:gridCol w="3840480"/>
                <a:gridCol w="3072383"/>
              </a:tblGrid>
              <a:tr h="378229">
                <a:tc>
                  <a:txBody>
                    <a:bodyPr/>
                    <a:lstStyle/>
                    <a:p>
                      <a:r>
                        <a:rPr sz="900" b="1">
                          <a:solidFill>
                            <a:srgbClr val="FFFFFF"/>
                          </a:solidFill>
                          <a:latin typeface="Arial"/>
                        </a:rPr>
                        <a:t>#</a:t>
                      </a:r>
                    </a:p>
                  </a:txBody>
                  <a:tcPr marL="63500" marR="63500" marT="25400" marB="25400">
                    <a:solidFill>
                      <a:srgbClr val="1F4E79"/>
                    </a:solidFill>
                  </a:tcPr>
                </a:tc>
                <a:tc>
                  <a:txBody>
                    <a:bodyPr/>
                    <a:lstStyle/>
                    <a:p>
                      <a:r>
                        <a:rPr sz="900" b="1">
                          <a:solidFill>
                            <a:srgbClr val="FFFFFF"/>
                          </a:solidFill>
                          <a:latin typeface="Arial"/>
                        </a:rPr>
                        <a:t>Issue found</a:t>
                      </a:r>
                    </a:p>
                  </a:txBody>
                  <a:tcPr marL="63500" marR="63500" marT="25400" marB="25400">
                    <a:solidFill>
                      <a:srgbClr val="1F4E79"/>
                    </a:solidFill>
                  </a:tcPr>
                </a:tc>
                <a:tc>
                  <a:txBody>
                    <a:bodyPr/>
                    <a:lstStyle/>
                    <a:p>
                      <a:r>
                        <a:rPr sz="900" b="1">
                          <a:solidFill>
                            <a:srgbClr val="FFFFFF"/>
                          </a:solidFill>
                          <a:latin typeface="Arial"/>
                        </a:rPr>
                        <a:t>Action taken</a:t>
                      </a:r>
                    </a:p>
                  </a:txBody>
                  <a:tcPr marL="63500" marR="63500" marT="25400" marB="25400">
                    <a:solidFill>
                      <a:srgbClr val="1F4E79"/>
                    </a:solidFill>
                  </a:tcPr>
                </a:tc>
                <a:tc>
                  <a:txBody>
                    <a:bodyPr/>
                    <a:lstStyle/>
                    <a:p>
                      <a:r>
                        <a:rPr sz="900" b="1">
                          <a:solidFill>
                            <a:srgbClr val="FFFFFF"/>
                          </a:solidFill>
                          <a:latin typeface="Arial"/>
                        </a:rPr>
                        <a:t>Result</a:t>
                      </a:r>
                    </a:p>
                  </a:txBody>
                  <a:tcPr marL="63500" marR="63500" marT="25400" marB="25400">
                    <a:solidFill>
                      <a:srgbClr val="1F4E79"/>
                    </a:solidFill>
                  </a:tcPr>
                </a:tc>
              </a:tr>
              <a:tr h="378229">
                <a:tc>
                  <a:txBody>
                    <a:bodyPr/>
                    <a:lstStyle/>
                    <a:p>
                      <a:r>
                        <a:rPr sz="850">
                          <a:solidFill>
                            <a:srgbClr val="212529"/>
                          </a:solidFill>
                          <a:latin typeface="Arial"/>
                        </a:rPr>
                        <a:t>1</a:t>
                      </a:r>
                    </a:p>
                  </a:txBody>
                  <a:tcPr marL="63500" marR="63500" marT="25400" marB="25400">
                    <a:solidFill>
                      <a:srgbClr val="FFFFFF"/>
                    </a:solidFill>
                  </a:tcPr>
                </a:tc>
                <a:tc>
                  <a:txBody>
                    <a:bodyPr/>
                    <a:lstStyle/>
                    <a:p>
                      <a:r>
                        <a:rPr sz="850">
                          <a:solidFill>
                            <a:srgbClr val="212529"/>
                          </a:solidFill>
                          <a:latin typeface="Arial"/>
                        </a:rPr>
                        <a:t>Header sat under a blank first line</a:t>
                      </a:r>
                    </a:p>
                  </a:txBody>
                  <a:tcPr marL="63500" marR="63500" marT="25400" marB="25400">
                    <a:solidFill>
                      <a:srgbClr val="FFFFFF"/>
                    </a:solidFill>
                  </a:tcPr>
                </a:tc>
                <a:tc>
                  <a:txBody>
                    <a:bodyPr/>
                    <a:lstStyle/>
                    <a:p>
                      <a:r>
                        <a:rPr sz="850">
                          <a:solidFill>
                            <a:srgbClr val="212529"/>
                          </a:solidFill>
                          <a:latin typeface="Arial"/>
                        </a:rPr>
                        <a:t>Skipped the blank line</a:t>
                      </a:r>
                    </a:p>
                  </a:txBody>
                  <a:tcPr marL="63500" marR="63500" marT="25400" marB="25400">
                    <a:solidFill>
                      <a:srgbClr val="FFFFFF"/>
                    </a:solidFill>
                  </a:tcPr>
                </a:tc>
                <a:tc>
                  <a:txBody>
                    <a:bodyPr/>
                    <a:lstStyle/>
                    <a:p>
                      <a:r>
                        <a:rPr sz="850">
                          <a:solidFill>
                            <a:srgbClr val="212529"/>
                          </a:solidFill>
                          <a:latin typeface="Arial"/>
                        </a:rPr>
                        <a:t>626 rows, 12 columns</a:t>
                      </a:r>
                    </a:p>
                  </a:txBody>
                  <a:tcPr marL="63500" marR="63500" marT="25400" marB="25400">
                    <a:solidFill>
                      <a:srgbClr val="FFFFFF"/>
                    </a:solidFill>
                  </a:tcPr>
                </a:tc>
              </a:tr>
              <a:tr h="378229">
                <a:tc>
                  <a:txBody>
                    <a:bodyPr/>
                    <a:lstStyle/>
                    <a:p>
                      <a:r>
                        <a:rPr sz="850">
                          <a:solidFill>
                            <a:srgbClr val="212529"/>
                          </a:solidFill>
                          <a:latin typeface="Arial"/>
                        </a:rPr>
                        <a:t>2</a:t>
                      </a:r>
                    </a:p>
                  </a:txBody>
                  <a:tcPr marL="63500" marR="63500" marT="25400" marB="25400">
                    <a:solidFill>
                      <a:srgbClr val="EEF3F8"/>
                    </a:solidFill>
                  </a:tcPr>
                </a:tc>
                <a:tc>
                  <a:txBody>
                    <a:bodyPr/>
                    <a:lstStyle/>
                    <a:p>
                      <a:r>
                        <a:rPr sz="850">
                          <a:solidFill>
                            <a:srgbClr val="212529"/>
                          </a:solidFill>
                          <a:latin typeface="Arial"/>
                        </a:rPr>
                        <a:t>Pivot table pasted into columns N-P</a:t>
                      </a:r>
                    </a:p>
                  </a:txBody>
                  <a:tcPr marL="63500" marR="63500" marT="25400" marB="25400">
                    <a:solidFill>
                      <a:srgbClr val="EEF3F8"/>
                    </a:solidFill>
                  </a:tcPr>
                </a:tc>
                <a:tc>
                  <a:txBody>
                    <a:bodyPr/>
                    <a:lstStyle/>
                    <a:p>
                      <a:r>
                        <a:rPr sz="850">
                          <a:solidFill>
                            <a:srgbClr val="212529"/>
                          </a:solidFill>
                          <a:latin typeface="Arial"/>
                        </a:rPr>
                        <a:t>Kept the 12 core fields</a:t>
                      </a:r>
                    </a:p>
                  </a:txBody>
                  <a:tcPr marL="63500" marR="63500" marT="25400" marB="25400">
                    <a:solidFill>
                      <a:srgbClr val="EEF3F8"/>
                    </a:solidFill>
                  </a:tcPr>
                </a:tc>
                <a:tc>
                  <a:txBody>
                    <a:bodyPr/>
                    <a:lstStyle/>
                    <a:p>
                      <a:r>
                        <a:rPr sz="850">
                          <a:solidFill>
                            <a:srgbClr val="212529"/>
                          </a:solidFill>
                          <a:latin typeface="Arial"/>
                        </a:rPr>
                        <a:t>12 clean columns</a:t>
                      </a:r>
                    </a:p>
                  </a:txBody>
                  <a:tcPr marL="63500" marR="63500" marT="25400" marB="25400">
                    <a:solidFill>
                      <a:srgbClr val="EEF3F8"/>
                    </a:solidFill>
                  </a:tcPr>
                </a:tc>
              </a:tr>
              <a:tr h="378229">
                <a:tc>
                  <a:txBody>
                    <a:bodyPr/>
                    <a:lstStyle/>
                    <a:p>
                      <a:r>
                        <a:rPr sz="850">
                          <a:solidFill>
                            <a:srgbClr val="212529"/>
                          </a:solidFill>
                          <a:latin typeface="Arial"/>
                        </a:rPr>
                        <a:t>3</a:t>
                      </a:r>
                    </a:p>
                  </a:txBody>
                  <a:tcPr marL="63500" marR="63500" marT="25400" marB="25400">
                    <a:solidFill>
                      <a:srgbClr val="FFFFFF"/>
                    </a:solidFill>
                  </a:tcPr>
                </a:tc>
                <a:tc>
                  <a:txBody>
                    <a:bodyPr/>
                    <a:lstStyle/>
                    <a:p>
                      <a:r>
                        <a:rPr sz="850">
                          <a:solidFill>
                            <a:srgbClr val="212529"/>
                          </a:solidFill>
                          <a:latin typeface="Arial"/>
                        </a:rPr>
                        <a:t>Missing values stored as text 'NA'</a:t>
                      </a:r>
                    </a:p>
                  </a:txBody>
                  <a:tcPr marL="63500" marR="63500" marT="25400" marB="25400">
                    <a:solidFill>
                      <a:srgbClr val="FFFFFF"/>
                    </a:solidFill>
                  </a:tcPr>
                </a:tc>
                <a:tc>
                  <a:txBody>
                    <a:bodyPr/>
                    <a:lstStyle/>
                    <a:p>
                      <a:r>
                        <a:rPr sz="850">
                          <a:solidFill>
                            <a:srgbClr val="212529"/>
                          </a:solidFill>
                          <a:latin typeface="Arial"/>
                        </a:rPr>
                        <a:t>Converted to true nulls</a:t>
                      </a:r>
                    </a:p>
                  </a:txBody>
                  <a:tcPr marL="63500" marR="63500" marT="25400" marB="25400">
                    <a:solidFill>
                      <a:srgbClr val="FFFFFF"/>
                    </a:solidFill>
                  </a:tcPr>
                </a:tc>
                <a:tc>
                  <a:txBody>
                    <a:bodyPr/>
                    <a:lstStyle/>
                    <a:p>
                      <a:r>
                        <a:rPr sz="850">
                          <a:solidFill>
                            <a:srgbClr val="212529"/>
                          </a:solidFill>
                          <a:latin typeface="Arial"/>
                        </a:rPr>
                        <a:t>198 cells fixed</a:t>
                      </a:r>
                    </a:p>
                  </a:txBody>
                  <a:tcPr marL="63500" marR="63500" marT="25400" marB="25400">
                    <a:solidFill>
                      <a:srgbClr val="FFFFFF"/>
                    </a:solidFill>
                  </a:tcPr>
                </a:tc>
              </a:tr>
              <a:tr h="378229">
                <a:tc>
                  <a:txBody>
                    <a:bodyPr/>
                    <a:lstStyle/>
                    <a:p>
                      <a:r>
                        <a:rPr sz="850">
                          <a:solidFill>
                            <a:srgbClr val="212529"/>
                          </a:solidFill>
                          <a:latin typeface="Arial"/>
                        </a:rPr>
                        <a:t>4</a:t>
                      </a:r>
                    </a:p>
                  </a:txBody>
                  <a:tcPr marL="63500" marR="63500" marT="25400" marB="25400">
                    <a:solidFill>
                      <a:srgbClr val="EEF3F8"/>
                    </a:solidFill>
                  </a:tcPr>
                </a:tc>
                <a:tc>
                  <a:txBody>
                    <a:bodyPr/>
                    <a:lstStyle/>
                    <a:p>
                      <a:r>
                        <a:rPr sz="850">
                          <a:solidFill>
                            <a:srgbClr val="212529"/>
                          </a:solidFill>
                          <a:latin typeface="Arial"/>
                        </a:rPr>
                        <a:t>England and UK used for one market</a:t>
                      </a:r>
                    </a:p>
                  </a:txBody>
                  <a:tcPr marL="63500" marR="63500" marT="25400" marB="25400">
                    <a:solidFill>
                      <a:srgbClr val="EEF3F8"/>
                    </a:solidFill>
                  </a:tcPr>
                </a:tc>
                <a:tc>
                  <a:txBody>
                    <a:bodyPr/>
                    <a:lstStyle/>
                    <a:p>
                      <a:r>
                        <a:rPr sz="850">
                          <a:solidFill>
                            <a:srgbClr val="212529"/>
                          </a:solidFill>
                          <a:latin typeface="Arial"/>
                        </a:rPr>
                        <a:t>Merged; blanks to Unknown</a:t>
                      </a:r>
                    </a:p>
                  </a:txBody>
                  <a:tcPr marL="63500" marR="63500" marT="25400" marB="25400">
                    <a:solidFill>
                      <a:srgbClr val="EEF3F8"/>
                    </a:solidFill>
                  </a:tcPr>
                </a:tc>
                <a:tc>
                  <a:txBody>
                    <a:bodyPr/>
                    <a:lstStyle/>
                    <a:p>
                      <a:r>
                        <a:rPr sz="850">
                          <a:solidFill>
                            <a:srgbClr val="212529"/>
                          </a:solidFill>
                          <a:latin typeface="Arial"/>
                        </a:rPr>
                        <a:t>UK total corrected</a:t>
                      </a:r>
                    </a:p>
                  </a:txBody>
                  <a:tcPr marL="63500" marR="63500" marT="25400" marB="25400">
                    <a:solidFill>
                      <a:srgbClr val="EEF3F8"/>
                    </a:solidFill>
                  </a:tcPr>
                </a:tc>
              </a:tr>
              <a:tr h="378229">
                <a:tc>
                  <a:txBody>
                    <a:bodyPr/>
                    <a:lstStyle/>
                    <a:p>
                      <a:r>
                        <a:rPr sz="850">
                          <a:solidFill>
                            <a:srgbClr val="212529"/>
                          </a:solidFill>
                          <a:latin typeface="Arial"/>
                        </a:rPr>
                        <a:t>5</a:t>
                      </a:r>
                    </a:p>
                  </a:txBody>
                  <a:tcPr marL="63500" marR="63500" marT="25400" marB="25400">
                    <a:solidFill>
                      <a:srgbClr val="FFFFFF"/>
                    </a:solidFill>
                  </a:tcPr>
                </a:tc>
                <a:tc>
                  <a:txBody>
                    <a:bodyPr/>
                    <a:lstStyle/>
                    <a:p>
                      <a:r>
                        <a:rPr sz="850">
                          <a:solidFill>
                            <a:srgbClr val="212529"/>
                          </a:solidFill>
                          <a:latin typeface="Arial"/>
                        </a:rPr>
                        <a:t>Blank payment methods would vanish</a:t>
                      </a:r>
                    </a:p>
                  </a:txBody>
                  <a:tcPr marL="63500" marR="63500" marT="25400" marB="25400">
                    <a:solidFill>
                      <a:srgbClr val="FFFFFF"/>
                    </a:solidFill>
                  </a:tcPr>
                </a:tc>
                <a:tc>
                  <a:txBody>
                    <a:bodyPr/>
                    <a:lstStyle/>
                    <a:p>
                      <a:r>
                        <a:rPr sz="850">
                          <a:solidFill>
                            <a:srgbClr val="212529"/>
                          </a:solidFill>
                          <a:latin typeface="Arial"/>
                        </a:rPr>
                        <a:t>Labelled Unknown, retained</a:t>
                      </a:r>
                    </a:p>
                  </a:txBody>
                  <a:tcPr marL="63500" marR="63500" marT="25400" marB="25400">
                    <a:solidFill>
                      <a:srgbClr val="FFFFFF"/>
                    </a:solidFill>
                  </a:tcPr>
                </a:tc>
                <a:tc>
                  <a:txBody>
                    <a:bodyPr/>
                    <a:lstStyle/>
                    <a:p>
                      <a:r>
                        <a:rPr sz="850">
                          <a:solidFill>
                            <a:srgbClr val="212529"/>
                          </a:solidFill>
                          <a:latin typeface="Arial"/>
                        </a:rPr>
                        <a:t>36 rows retained</a:t>
                      </a:r>
                    </a:p>
                  </a:txBody>
                  <a:tcPr marL="63500" marR="63500" marT="25400" marB="25400">
                    <a:solidFill>
                      <a:srgbClr val="FFFFFF"/>
                    </a:solidFill>
                  </a:tcPr>
                </a:tc>
              </a:tr>
              <a:tr h="378229">
                <a:tc>
                  <a:txBody>
                    <a:bodyPr/>
                    <a:lstStyle/>
                    <a:p>
                      <a:r>
                        <a:rPr sz="850">
                          <a:solidFill>
                            <a:srgbClr val="212529"/>
                          </a:solidFill>
                          <a:latin typeface="Arial"/>
                        </a:rPr>
                        <a:t>6</a:t>
                      </a:r>
                    </a:p>
                  </a:txBody>
                  <a:tcPr marL="63500" marR="63500" marT="25400" marB="25400">
                    <a:solidFill>
                      <a:srgbClr val="EEF3F8"/>
                    </a:solidFill>
                  </a:tcPr>
                </a:tc>
                <a:tc>
                  <a:txBody>
                    <a:bodyPr/>
                    <a:lstStyle/>
                    <a:p>
                      <a:r>
                        <a:rPr sz="850">
                          <a:solidFill>
                            <a:srgbClr val="212529"/>
                          </a:solidFill>
                          <a:latin typeface="Arial"/>
                        </a:rPr>
                        <a:t>Numbers stored as text</a:t>
                      </a:r>
                    </a:p>
                  </a:txBody>
                  <a:tcPr marL="63500" marR="63500" marT="25400" marB="25400">
                    <a:solidFill>
                      <a:srgbClr val="EEF3F8"/>
                    </a:solidFill>
                  </a:tcPr>
                </a:tc>
                <a:tc>
                  <a:txBody>
                    <a:bodyPr/>
                    <a:lstStyle/>
                    <a:p>
                      <a:r>
                        <a:rPr sz="850">
                          <a:solidFill>
                            <a:srgbClr val="212529"/>
                          </a:solidFill>
                          <a:latin typeface="Arial"/>
                        </a:rPr>
                        <a:t>Coerced to numeric types</a:t>
                      </a:r>
                    </a:p>
                  </a:txBody>
                  <a:tcPr marL="63500" marR="63500" marT="25400" marB="25400">
                    <a:solidFill>
                      <a:srgbClr val="EEF3F8"/>
                    </a:solidFill>
                  </a:tcPr>
                </a:tc>
                <a:tc>
                  <a:txBody>
                    <a:bodyPr/>
                    <a:lstStyle/>
                    <a:p>
                      <a:r>
                        <a:rPr sz="850">
                          <a:solidFill>
                            <a:srgbClr val="212529"/>
                          </a:solidFill>
                          <a:latin typeface="Arial"/>
                        </a:rPr>
                        <a:t>Types correct</a:t>
                      </a:r>
                    </a:p>
                  </a:txBody>
                  <a:tcPr marL="63500" marR="63500" marT="25400" marB="25400">
                    <a:solidFill>
                      <a:srgbClr val="EEF3F8"/>
                    </a:solidFill>
                  </a:tcPr>
                </a:tc>
              </a:tr>
              <a:tr h="378229">
                <a:tc>
                  <a:txBody>
                    <a:bodyPr/>
                    <a:lstStyle/>
                    <a:p>
                      <a:r>
                        <a:rPr sz="850">
                          <a:solidFill>
                            <a:srgbClr val="212529"/>
                          </a:solidFill>
                          <a:latin typeface="Arial"/>
                        </a:rPr>
                        <a:t>7</a:t>
                      </a:r>
                    </a:p>
                  </a:txBody>
                  <a:tcPr marL="63500" marR="63500" marT="25400" marB="25400">
                    <a:solidFill>
                      <a:srgbClr val="FFFFFF"/>
                    </a:solidFill>
                  </a:tcPr>
                </a:tc>
                <a:tc>
                  <a:txBody>
                    <a:bodyPr/>
                    <a:lstStyle/>
                    <a:p>
                      <a:r>
                        <a:rPr sz="850">
                          <a:solidFill>
                            <a:srgbClr val="212529"/>
                          </a:solidFill>
                          <a:latin typeface="Arial"/>
                        </a:rPr>
                        <a:t>Dates stored as dd/mm/yy text</a:t>
                      </a:r>
                    </a:p>
                  </a:txBody>
                  <a:tcPr marL="63500" marR="63500" marT="25400" marB="25400">
                    <a:solidFill>
                      <a:srgbClr val="FFFFFF"/>
                    </a:solidFill>
                  </a:tcPr>
                </a:tc>
                <a:tc>
                  <a:txBody>
                    <a:bodyPr/>
                    <a:lstStyle/>
                    <a:p>
                      <a:r>
                        <a:rPr sz="850">
                          <a:solidFill>
                            <a:srgbClr val="212529"/>
                          </a:solidFill>
                          <a:latin typeface="Arial"/>
                        </a:rPr>
                        <a:t>Parsed; added Year and Month</a:t>
                      </a:r>
                    </a:p>
                  </a:txBody>
                  <a:tcPr marL="63500" marR="63500" marT="25400" marB="25400">
                    <a:solidFill>
                      <a:srgbClr val="FFFFFF"/>
                    </a:solidFill>
                  </a:tcPr>
                </a:tc>
                <a:tc>
                  <a:txBody>
                    <a:bodyPr/>
                    <a:lstStyle/>
                    <a:p>
                      <a:r>
                        <a:rPr sz="850">
                          <a:solidFill>
                            <a:srgbClr val="212529"/>
                          </a:solidFill>
                          <a:latin typeface="Arial"/>
                        </a:rPr>
                        <a:t>626 dates parsed</a:t>
                      </a:r>
                    </a:p>
                  </a:txBody>
                  <a:tcPr marL="63500" marR="63500" marT="25400" marB="25400">
                    <a:solidFill>
                      <a:srgbClr val="FFFFFF"/>
                    </a:solidFill>
                  </a:tcPr>
                </a:tc>
              </a:tr>
              <a:tr h="378229">
                <a:tc>
                  <a:txBody>
                    <a:bodyPr/>
                    <a:lstStyle/>
                    <a:p>
                      <a:r>
                        <a:rPr sz="850">
                          <a:solidFill>
                            <a:srgbClr val="212529"/>
                          </a:solidFill>
                          <a:latin typeface="Arial"/>
                        </a:rPr>
                        <a:t>8</a:t>
                      </a:r>
                    </a:p>
                  </a:txBody>
                  <a:tcPr marL="63500" marR="63500" marT="25400" marB="25400">
                    <a:solidFill>
                      <a:srgbClr val="EEF3F8"/>
                    </a:solidFill>
                  </a:tcPr>
                </a:tc>
                <a:tc>
                  <a:txBody>
                    <a:bodyPr/>
                    <a:lstStyle/>
                    <a:p>
                      <a:r>
                        <a:rPr sz="850">
                          <a:solidFill>
                            <a:srgbClr val="212529"/>
                          </a:solidFill>
                          <a:latin typeface="Arial"/>
                        </a:rPr>
                        <a:t>Sales is a derived field</a:t>
                      </a:r>
                    </a:p>
                  </a:txBody>
                  <a:tcPr marL="63500" marR="63500" marT="25400" marB="25400">
                    <a:solidFill>
                      <a:srgbClr val="EEF3F8"/>
                    </a:solidFill>
                  </a:tcPr>
                </a:tc>
                <a:tc>
                  <a:txBody>
                    <a:bodyPr/>
                    <a:lstStyle/>
                    <a:p>
                      <a:r>
                        <a:rPr sz="850">
                          <a:solidFill>
                            <a:srgbClr val="212529"/>
                          </a:solidFill>
                          <a:latin typeface="Arial"/>
                        </a:rPr>
                        <a:t>Checked Quantity x UnitPrice</a:t>
                      </a:r>
                    </a:p>
                  </a:txBody>
                  <a:tcPr marL="63500" marR="63500" marT="25400" marB="25400">
                    <a:solidFill>
                      <a:srgbClr val="EEF3F8"/>
                    </a:solidFill>
                  </a:tcPr>
                </a:tc>
                <a:tc>
                  <a:txBody>
                    <a:bodyPr/>
                    <a:lstStyle/>
                    <a:p>
                      <a:r>
                        <a:rPr sz="850">
                          <a:solidFill>
                            <a:srgbClr val="212529"/>
                          </a:solidFill>
                          <a:latin typeface="Arial"/>
                        </a:rPr>
                        <a:t>626/626 reconcile</a:t>
                      </a:r>
                    </a:p>
                  </a:txBody>
                  <a:tcPr marL="63500" marR="63500" marT="25400" marB="25400">
                    <a:solidFill>
                      <a:srgbClr val="EEF3F8"/>
                    </a:solidFill>
                  </a:tcPr>
                </a:tc>
              </a:tr>
              <a:tr h="378229">
                <a:tc>
                  <a:txBody>
                    <a:bodyPr/>
                    <a:lstStyle/>
                    <a:p>
                      <a:r>
                        <a:rPr sz="850">
                          <a:solidFill>
                            <a:srgbClr val="212529"/>
                          </a:solidFill>
                          <a:latin typeface="Arial"/>
                        </a:rPr>
                        <a:t>9</a:t>
                      </a:r>
                    </a:p>
                  </a:txBody>
                  <a:tcPr marL="63500" marR="63500" marT="25400" marB="25400">
                    <a:solidFill>
                      <a:srgbClr val="FFFFFF"/>
                    </a:solidFill>
                  </a:tcPr>
                </a:tc>
                <a:tc>
                  <a:txBody>
                    <a:bodyPr/>
                    <a:lstStyle/>
                    <a:p>
                      <a:r>
                        <a:rPr sz="850">
                          <a:solidFill>
                            <a:srgbClr val="212529"/>
                          </a:solidFill>
                          <a:latin typeface="Arial"/>
                        </a:rPr>
                        <a:t>Records in arbitrary order</a:t>
                      </a:r>
                    </a:p>
                  </a:txBody>
                  <a:tcPr marL="63500" marR="63500" marT="25400" marB="25400">
                    <a:solidFill>
                      <a:srgbClr val="FFFFFF"/>
                    </a:solidFill>
                  </a:tcPr>
                </a:tc>
                <a:tc>
                  <a:txBody>
                    <a:bodyPr/>
                    <a:lstStyle/>
                    <a:p>
                      <a:r>
                        <a:rPr sz="850">
                          <a:solidFill>
                            <a:srgbClr val="212529"/>
                          </a:solidFill>
                          <a:latin typeface="Arial"/>
                        </a:rPr>
                        <a:t>Sorted by OrderID</a:t>
                      </a:r>
                    </a:p>
                  </a:txBody>
                  <a:tcPr marL="63500" marR="63500" marT="25400" marB="25400">
                    <a:solidFill>
                      <a:srgbClr val="FFFFFF"/>
                    </a:solidFill>
                  </a:tcPr>
                </a:tc>
                <a:tc>
                  <a:txBody>
                    <a:bodyPr/>
                    <a:lstStyle/>
                    <a:p>
                      <a:r>
                        <a:rPr sz="850">
                          <a:solidFill>
                            <a:srgbClr val="212529"/>
                          </a:solidFill>
                          <a:latin typeface="Arial"/>
                        </a:rPr>
                        <a:t>Stable order</a:t>
                      </a:r>
                    </a:p>
                  </a:txBody>
                  <a:tcPr marL="63500" marR="63500" marT="25400" marB="25400">
                    <a:solidFill>
                      <a:srgbClr val="FFFFFF"/>
                    </a:solidFill>
                  </a:tcPr>
                </a:tc>
              </a:tr>
              <a:tr h="378230">
                <a:tc>
                  <a:txBody>
                    <a:bodyPr/>
                    <a:lstStyle/>
                    <a:p>
                      <a:r>
                        <a:rPr sz="850">
                          <a:solidFill>
                            <a:srgbClr val="212529"/>
                          </a:solidFill>
                          <a:latin typeface="Arial"/>
                        </a:rPr>
                        <a:t>10</a:t>
                      </a:r>
                    </a:p>
                  </a:txBody>
                  <a:tcPr marL="63500" marR="63500" marT="25400" marB="25400">
                    <a:solidFill>
                      <a:srgbClr val="EEF3F8"/>
                    </a:solidFill>
                  </a:tcPr>
                </a:tc>
                <a:tc>
                  <a:txBody>
                    <a:bodyPr/>
                    <a:lstStyle/>
                    <a:p>
                      <a:r>
                        <a:rPr sz="850">
                          <a:solidFill>
                            <a:srgbClr val="212529"/>
                          </a:solidFill>
                          <a:latin typeface="Arial"/>
                        </a:rPr>
                        <a:t>Stray whitespace in text fields</a:t>
                      </a:r>
                    </a:p>
                  </a:txBody>
                  <a:tcPr marL="63500" marR="63500" marT="25400" marB="25400">
                    <a:solidFill>
                      <a:srgbClr val="EEF3F8"/>
                    </a:solidFill>
                  </a:tcPr>
                </a:tc>
                <a:tc>
                  <a:txBody>
                    <a:bodyPr/>
                    <a:lstStyle/>
                    <a:p>
                      <a:r>
                        <a:rPr sz="850">
                          <a:solidFill>
                            <a:srgbClr val="212529"/>
                          </a:solidFill>
                          <a:latin typeface="Arial"/>
                        </a:rPr>
                        <a:t>Trimmed every text field</a:t>
                      </a:r>
                    </a:p>
                  </a:txBody>
                  <a:tcPr marL="63500" marR="63500" marT="25400" marB="25400">
                    <a:solidFill>
                      <a:srgbClr val="EEF3F8"/>
                    </a:solidFill>
                  </a:tcPr>
                </a:tc>
                <a:tc>
                  <a:txBody>
                    <a:bodyPr/>
                    <a:lstStyle/>
                    <a:p>
                      <a:r>
                        <a:rPr sz="850">
                          <a:solidFill>
                            <a:srgbClr val="212529"/>
                          </a:solidFill>
                          <a:latin typeface="Arial"/>
                        </a:rPr>
                        <a:t>Clean text</a:t>
                      </a:r>
                    </a:p>
                  </a:txBody>
                  <a:tcPr marL="63500" marR="63500" marT="25400" marB="25400">
                    <a:solidFill>
                      <a:srgbClr val="EEF3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KEY FINDING</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Correction 1: The UK Was Understated</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'England' and 'United Kingdom' were two labels for one market</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40080" y="1783080"/>
          <a:ext cx="10881360" cy="4480560"/>
        </p:xfrm>
        <a:graphic>
          <a:graphicData uri="http://schemas.openxmlformats.org/drawingml/2006/chart">
            <c:chart xmlns:c="http://schemas.openxmlformats.org/drawingml/2006/chart" r:id="rId2"/>
          </a:graphicData>
        </a:graphic>
      </p:graphicFrame>
      <p:sp>
        <p:nvSpPr>
          <p:cNvPr id="8" name="Rounded Rectangle 7"/>
          <p:cNvSpPr/>
          <p:nvPr/>
        </p:nvSpPr>
        <p:spPr>
          <a:xfrm>
            <a:off x="640080" y="5989320"/>
            <a:ext cx="10881360" cy="548640"/>
          </a:xfrm>
          <a:prstGeom prst="roundRect">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F4E79"/>
                </a:solidFill>
                <a:latin typeface="Arial"/>
              </a:rPr>
              <a:t>UK before: 56,115.69 (rank 5)   +   England: 13,630.14   =   UK after: 69,745.83 (rank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KEY FINDING</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Correction 2: The Coverage Problem</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Orders per month - 2024 only fills up from October, and 2026 stops on 09 December</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40080" y="1783080"/>
          <a:ext cx="10881360" cy="4480560"/>
        </p:xfrm>
        <a:graphic>
          <a:graphicData uri="http://schemas.openxmlformats.org/drawingml/2006/chart">
            <c:chart xmlns:c="http://schemas.openxmlformats.org/drawingml/2006/chart" r:id="rId2"/>
          </a:graphicData>
        </a:graphic>
      </p:graphicFrame>
      <p:sp>
        <p:nvSpPr>
          <p:cNvPr id="8" name="Rounded Rectangle 7"/>
          <p:cNvSpPr/>
          <p:nvPr/>
        </p:nvSpPr>
        <p:spPr>
          <a:xfrm>
            <a:off x="640080" y="5989320"/>
            <a:ext cx="10881360" cy="548640"/>
          </a:xfrm>
          <a:prstGeom prst="roundRect">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F4E79"/>
                </a:solidFill>
                <a:latin typeface="Arial"/>
              </a:rPr>
              <a:t>Whole-year totals are not comparable. Any year-on-year chart built on them is measuring the extract window, not the business.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KEY FINDING</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The Business Is Flat, Not Declining</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Like-for-like comparison for the months both years fully cover</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2148840"/>
          <a:ext cx="10515600" cy="4023360"/>
        </p:xfrm>
        <a:graphic>
          <a:graphicData uri="http://schemas.openxmlformats.org/drawingml/2006/chart">
            <c:chart xmlns:c="http://schemas.openxmlformats.org/drawingml/2006/chart" r:id="rId2"/>
          </a:graphicData>
        </a:graphic>
      </p:graphicFrame>
      <p:sp>
        <p:nvSpPr>
          <p:cNvPr id="8" name="Rounded Rectangle 7"/>
          <p:cNvSpPr/>
          <p:nvPr/>
        </p:nvSpPr>
        <p:spPr>
          <a:xfrm>
            <a:off x="640080" y="5989320"/>
            <a:ext cx="10881360" cy="548640"/>
          </a:xfrm>
          <a:prstGeom prst="roundRect">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F4E79"/>
                </a:solidFill>
                <a:latin typeface="Arial"/>
              </a:rPr>
              <a:t>Naive whole-year view: +187% then -21.8%.   Like-for-like: -0.3% revenue, +2.3% average order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ANALYSIS</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Revenue by Market</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Five markets, each holding 16.7% to 21.5% of revenue</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2103120"/>
          <a:ext cx="105156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ANALYSIS</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Revenue by Category</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A flat mix - no category is the growth engine</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2103120"/>
          <a:ext cx="105156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ANALYSIS</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Payment Methods</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Broad-based, with credit card leading but nothing dominant</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1005840" y="1965960"/>
          <a:ext cx="5669280" cy="4206240"/>
        </p:xfrm>
        <a:graphic>
          <a:graphicData uri="http://schemas.openxmlformats.org/drawingml/2006/chart">
            <c:chart xmlns:c="http://schemas.openxmlformats.org/drawingml/2006/chart" r:id="rId2"/>
          </a:graphicData>
        </a:graphic>
      </p:graphicFrame>
      <p:sp>
        <p:nvSpPr>
          <p:cNvPr id="8" name="TextBox 7"/>
          <p:cNvSpPr txBox="1"/>
          <p:nvPr/>
        </p:nvSpPr>
        <p:spPr>
          <a:xfrm>
            <a:off x="6949440" y="2286000"/>
            <a:ext cx="4754880" cy="3657600"/>
          </a:xfrm>
          <a:prstGeom prst="rect">
            <a:avLst/>
          </a:prstGeom>
          <a:noFill/>
        </p:spPr>
        <p:txBody>
          <a:bodyPr wrap="square" anchor="t" lIns="0" rIns="0" tIns="0" bIns="0">
            <a:spAutoFit/>
          </a:bodyPr>
          <a:lstStyle/>
          <a:p>
            <a:pPr algn="l">
              <a:lnSpc>
                <a:spcPct val="125000"/>
              </a:lnSpc>
            </a:pPr>
            <a:r>
              <a:rPr sz="1350" b="0" i="0">
                <a:solidFill>
                  <a:srgbClr val="212529"/>
                </a:solidFill>
                <a:latin typeface="Arial"/>
              </a:rPr>
              <a:t>Credit card leads at 31.9% of orders.
Cash on delivery still carries 20.3% - a real reconciliation and fulfilment cost.
Every named method holds at least 12.8%, so there is no single point of failure.
5.8% of orders have no payment method recorded.</a:t>
            </a:r>
          </a:p>
        </p:txBody>
      </p:sp>
      <p:sp>
        <p:nvSpPr>
          <p:cNvPr id="9" name="Rounded Rectangle 8"/>
          <p:cNvSpPr/>
          <p:nvPr/>
        </p:nvSpPr>
        <p:spPr>
          <a:xfrm>
            <a:off x="8229600" y="2377440"/>
            <a:ext cx="3383280" cy="2377440"/>
          </a:xfrm>
          <a:prstGeom prst="roundRect">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a:lstStyle/>
          <a:p>
            <a:pPr algn="ctr"/>
            <a:r>
              <a:rPr sz="4400" b="1">
                <a:solidFill>
                  <a:srgbClr val="1F4E79"/>
                </a:solidFill>
                <a:latin typeface="Arial"/>
              </a:rPr>
              <a:t>586</a:t>
            </a:r>
          </a:p>
          <a:p>
            <a:pPr algn="ctr"/>
            <a:r>
              <a:rPr sz="1500">
                <a:solidFill>
                  <a:srgbClr val="5C6670"/>
                </a:solidFill>
                <a:latin typeface="Arial"/>
              </a:rPr>
              <a:t>distinct cities</a:t>
            </a:r>
          </a:p>
          <a:p>
            <a:pPr algn="ctr">
              <a:spcBef>
                <a:spcPts val="1000"/>
              </a:spcBef>
            </a:pPr>
            <a:r>
              <a:rPr sz="1300" b="1">
                <a:solidFill>
                  <a:srgbClr val="E8871E"/>
                </a:solidFill>
                <a:latin typeface="Arial"/>
              </a:rPr>
              <a:t>Top 10 = 5.9% of revenue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ANALYSIS</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Product Concentration</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The top ten products sit in a narrow band - no hero product</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40080" y="1965960"/>
          <a:ext cx="1088136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ANALYSIS</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Geographic Fragmentation</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Below country level the data stops being actionable</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40080" y="1965960"/>
          <a:ext cx="731520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4</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The Interactive Dashboard</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Delivered in Task 3 as a Tableau workbook (Dashboard.twb)</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_screenshot.png"/>
          <p:cNvPicPr>
            <a:picLocks noChangeAspect="1"/>
          </p:cNvPicPr>
          <p:nvPr/>
        </p:nvPicPr>
        <p:blipFill>
          <a:blip r:embed="rId2"/>
          <a:stretch>
            <a:fillRect/>
          </a:stretch>
        </p:blipFill>
        <p:spPr>
          <a:xfrm>
            <a:off x="548640" y="1874519"/>
            <a:ext cx="11064240" cy="3756329"/>
          </a:xfrm>
          <a:prstGeom prst="rect">
            <a:avLst/>
          </a:prstGeom>
        </p:spPr>
      </p:pic>
      <p:sp>
        <p:nvSpPr>
          <p:cNvPr id="8" name="TextBox 7"/>
          <p:cNvSpPr txBox="1"/>
          <p:nvPr/>
        </p:nvSpPr>
        <p:spPr>
          <a:xfrm>
            <a:off x="548640" y="5806440"/>
            <a:ext cx="11064240" cy="822960"/>
          </a:xfrm>
          <a:prstGeom prst="rect">
            <a:avLst/>
          </a:prstGeom>
          <a:noFill/>
        </p:spPr>
        <p:txBody>
          <a:bodyPr wrap="square" anchor="t" lIns="0" rIns="0" tIns="0" bIns="0">
            <a:spAutoFit/>
          </a:bodyPr>
          <a:lstStyle/>
          <a:p>
            <a:pPr algn="l">
              <a:lnSpc>
                <a:spcPct val="100000"/>
              </a:lnSpc>
            </a:pPr>
            <a:r>
              <a:rPr sz="1200" b="0" i="1">
                <a:solidFill>
                  <a:srgbClr val="5C6670"/>
                </a:solidFill>
                <a:latin typeface="Arial"/>
              </a:rPr>
              <a:t>Year and Country filters drive every view at once.  Two defects are corrected in this report: the split UK market, and 'NA' charted as if it were a country.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5</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Key Business Insights (1 of 2)</a:t>
            </a:r>
          </a:p>
        </p:txBody>
      </p:sp>
      <p:sp>
        <p:nvSpPr>
          <p:cNvPr id="5" name="Rectangle 4"/>
          <p:cNvSpPr/>
          <p:nvPr/>
        </p:nvSpPr>
        <p:spPr>
          <a:xfrm>
            <a:off x="548640" y="1335024"/>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737360"/>
            <a:ext cx="475488" cy="47548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7" name="TextBox 6"/>
          <p:cNvSpPr txBox="1"/>
          <p:nvPr/>
        </p:nvSpPr>
        <p:spPr>
          <a:xfrm>
            <a:off x="1280160" y="1719072"/>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Trading is flat, not declining</a:t>
            </a:r>
          </a:p>
        </p:txBody>
      </p:sp>
      <p:sp>
        <p:nvSpPr>
          <p:cNvPr id="8" name="TextBox 7"/>
          <p:cNvSpPr txBox="1"/>
          <p:nvPr/>
        </p:nvSpPr>
        <p:spPr>
          <a:xfrm>
            <a:off x="1280160" y="2121408"/>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Like-for-like Jan-Aug revenue moves -0.3% and average order value rises +2.3%. The reported 21.8% fall is a truncated extract.</a:t>
            </a:r>
          </a:p>
        </p:txBody>
      </p:sp>
      <p:sp>
        <p:nvSpPr>
          <p:cNvPr id="9" name="Oval 8"/>
          <p:cNvSpPr/>
          <p:nvPr/>
        </p:nvSpPr>
        <p:spPr>
          <a:xfrm>
            <a:off x="594360" y="2907791"/>
            <a:ext cx="475488" cy="47548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0" name="TextBox 9"/>
          <p:cNvSpPr txBox="1"/>
          <p:nvPr/>
        </p:nvSpPr>
        <p:spPr>
          <a:xfrm>
            <a:off x="1280160" y="2889503"/>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The UK is the second-largest market, not the fifth</a:t>
            </a:r>
          </a:p>
        </p:txBody>
      </p:sp>
      <p:sp>
        <p:nvSpPr>
          <p:cNvPr id="11" name="TextBox 10"/>
          <p:cNvSpPr txBox="1"/>
          <p:nvPr/>
        </p:nvSpPr>
        <p:spPr>
          <a:xfrm>
            <a:off x="1280160" y="3291839"/>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Merging England into the UK produces 69,745.83, 19.1% of revenue, ahead of India and Canada.</a:t>
            </a:r>
          </a:p>
        </p:txBody>
      </p:sp>
      <p:sp>
        <p:nvSpPr>
          <p:cNvPr id="12" name="Oval 11"/>
          <p:cNvSpPr/>
          <p:nvPr/>
        </p:nvSpPr>
        <p:spPr>
          <a:xfrm>
            <a:off x="594360" y="4078224"/>
            <a:ext cx="475488" cy="47548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3" name="TextBox 12"/>
          <p:cNvSpPr txBox="1"/>
          <p:nvPr/>
        </p:nvSpPr>
        <p:spPr>
          <a:xfrm>
            <a:off x="1280160" y="4059936"/>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There is no customer retention</a:t>
            </a:r>
          </a:p>
        </p:txBody>
      </p:sp>
      <p:sp>
        <p:nvSpPr>
          <p:cNvPr id="14" name="TextBox 13"/>
          <p:cNvSpPr txBox="1"/>
          <p:nvPr/>
        </p:nvSpPr>
        <p:spPr>
          <a:xfrm>
            <a:off x="1280160" y="4462272"/>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577 customers, 626 orders, zero repeat purchases. All revenue is first-time revenue.</a:t>
            </a:r>
          </a:p>
        </p:txBody>
      </p:sp>
      <p:sp>
        <p:nvSpPr>
          <p:cNvPr id="15" name="Oval 14"/>
          <p:cNvSpPr/>
          <p:nvPr/>
        </p:nvSpPr>
        <p:spPr>
          <a:xfrm>
            <a:off x="594360" y="5248656"/>
            <a:ext cx="475488" cy="47548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16" name="TextBox 15"/>
          <p:cNvSpPr txBox="1"/>
          <p:nvPr/>
        </p:nvSpPr>
        <p:spPr>
          <a:xfrm>
            <a:off x="1280160" y="5230368"/>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The product mix is flat - no hero product</a:t>
            </a:r>
          </a:p>
        </p:txBody>
      </p:sp>
      <p:sp>
        <p:nvSpPr>
          <p:cNvPr id="17" name="TextBox 16"/>
          <p:cNvSpPr txBox="1"/>
          <p:nvPr/>
        </p:nvSpPr>
        <p:spPr>
          <a:xfrm>
            <a:off x="1280160" y="5632704"/>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All five categories fall between 16.7% and 21.1% of revenue; the top product takes only 5.8%.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5</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Key Business Insights (2 of 2)</a:t>
            </a:r>
          </a:p>
        </p:txBody>
      </p:sp>
      <p:sp>
        <p:nvSpPr>
          <p:cNvPr id="5" name="Rectangle 4"/>
          <p:cNvSpPr/>
          <p:nvPr/>
        </p:nvSpPr>
        <p:spPr>
          <a:xfrm>
            <a:off x="548640" y="1335024"/>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737360"/>
            <a:ext cx="475488" cy="47548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7" name="TextBox 6"/>
          <p:cNvSpPr txBox="1"/>
          <p:nvPr/>
        </p:nvSpPr>
        <p:spPr>
          <a:xfrm>
            <a:off x="1280160" y="1719072"/>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Revenue moves with order count, not basket size</a:t>
            </a:r>
          </a:p>
        </p:txBody>
      </p:sp>
      <p:sp>
        <p:nvSpPr>
          <p:cNvPr id="8" name="TextBox 7"/>
          <p:cNvSpPr txBox="1"/>
          <p:nvPr/>
        </p:nvSpPr>
        <p:spPr>
          <a:xfrm>
            <a:off x="1280160" y="2121408"/>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Average order value is stable at 584.22 while monthly order counts ranged from 16 to 32.</a:t>
            </a:r>
          </a:p>
        </p:txBody>
      </p:sp>
      <p:sp>
        <p:nvSpPr>
          <p:cNvPr id="9" name="Oval 8"/>
          <p:cNvSpPr/>
          <p:nvPr/>
        </p:nvSpPr>
        <p:spPr>
          <a:xfrm>
            <a:off x="594360" y="2907791"/>
            <a:ext cx="475488" cy="47548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6</a:t>
            </a:r>
          </a:p>
        </p:txBody>
      </p:sp>
      <p:sp>
        <p:nvSpPr>
          <p:cNvPr id="10" name="TextBox 9"/>
          <p:cNvSpPr txBox="1"/>
          <p:nvPr/>
        </p:nvSpPr>
        <p:spPr>
          <a:xfrm>
            <a:off x="1280160" y="2889503"/>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City-level reporting is not actionable</a:t>
            </a:r>
          </a:p>
        </p:txBody>
      </p:sp>
      <p:sp>
        <p:nvSpPr>
          <p:cNvPr id="11" name="TextBox 10"/>
          <p:cNvSpPr txBox="1"/>
          <p:nvPr/>
        </p:nvSpPr>
        <p:spPr>
          <a:xfrm>
            <a:off x="1280160" y="3291839"/>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586 cities; the top ten are 5.9% of revenue.</a:t>
            </a:r>
          </a:p>
        </p:txBody>
      </p:sp>
      <p:sp>
        <p:nvSpPr>
          <p:cNvPr id="12" name="Oval 11"/>
          <p:cNvSpPr/>
          <p:nvPr/>
        </p:nvSpPr>
        <p:spPr>
          <a:xfrm>
            <a:off x="594360" y="4078224"/>
            <a:ext cx="475488" cy="47548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7</a:t>
            </a:r>
          </a:p>
        </p:txBody>
      </p:sp>
      <p:sp>
        <p:nvSpPr>
          <p:cNvPr id="13" name="TextBox 12"/>
          <p:cNvSpPr txBox="1"/>
          <p:nvPr/>
        </p:nvSpPr>
        <p:spPr>
          <a:xfrm>
            <a:off x="1280160" y="4059936"/>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Payment is broad-based, credit card leads</a:t>
            </a:r>
          </a:p>
        </p:txBody>
      </p:sp>
      <p:sp>
        <p:nvSpPr>
          <p:cNvPr id="14" name="TextBox 13"/>
          <p:cNvSpPr txBox="1"/>
          <p:nvPr/>
        </p:nvSpPr>
        <p:spPr>
          <a:xfrm>
            <a:off x="1280160" y="4462272"/>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Credit card 31.9% of orders, cash on delivery 20.3%, every method at least 12.8%.</a:t>
            </a:r>
          </a:p>
        </p:txBody>
      </p:sp>
      <p:sp>
        <p:nvSpPr>
          <p:cNvPr id="15" name="Oval 14"/>
          <p:cNvSpPr/>
          <p:nvPr/>
        </p:nvSpPr>
        <p:spPr>
          <a:xfrm>
            <a:off x="594360" y="5248656"/>
            <a:ext cx="475488" cy="47548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8</a:t>
            </a:r>
          </a:p>
        </p:txBody>
      </p:sp>
      <p:sp>
        <p:nvSpPr>
          <p:cNvPr id="16" name="TextBox 15"/>
          <p:cNvSpPr txBox="1"/>
          <p:nvPr/>
        </p:nvSpPr>
        <p:spPr>
          <a:xfrm>
            <a:off x="1280160" y="5230368"/>
            <a:ext cx="10332720" cy="365760"/>
          </a:xfrm>
          <a:prstGeom prst="rect">
            <a:avLst/>
          </a:prstGeom>
          <a:noFill/>
        </p:spPr>
        <p:txBody>
          <a:bodyPr wrap="square" anchor="t" lIns="0" rIns="0" tIns="0" bIns="0">
            <a:spAutoFit/>
          </a:bodyPr>
          <a:lstStyle/>
          <a:p>
            <a:pPr algn="l">
              <a:lnSpc>
                <a:spcPct val="100000"/>
              </a:lnSpc>
            </a:pPr>
            <a:r>
              <a:rPr sz="1600" b="1" i="0">
                <a:solidFill>
                  <a:srgbClr val="1F4E79"/>
                </a:solidFill>
                <a:latin typeface="Arial"/>
              </a:rPr>
              <a:t>8.5% of revenue has no market recorded</a:t>
            </a:r>
          </a:p>
        </p:txBody>
      </p:sp>
      <p:sp>
        <p:nvSpPr>
          <p:cNvPr id="17" name="TextBox 16"/>
          <p:cNvSpPr txBox="1"/>
          <p:nvPr/>
        </p:nvSpPr>
        <p:spPr>
          <a:xfrm>
            <a:off x="1280160" y="5632704"/>
            <a:ext cx="10332720" cy="685800"/>
          </a:xfrm>
          <a:prstGeom prst="rect">
            <a:avLst/>
          </a:prstGeom>
          <a:noFill/>
        </p:spPr>
        <p:txBody>
          <a:bodyPr wrap="square" anchor="t" lIns="0" rIns="0" tIns="0" bIns="0">
            <a:spAutoFit/>
          </a:bodyPr>
          <a:lstStyle/>
          <a:p>
            <a:pPr algn="l">
              <a:lnSpc>
                <a:spcPct val="115000"/>
              </a:lnSpc>
            </a:pPr>
            <a:r>
              <a:rPr sz="1250" b="0" i="0">
                <a:solidFill>
                  <a:srgbClr val="212529"/>
                </a:solidFill>
                <a:latin typeface="Arial"/>
              </a:rPr>
              <a:t>52 orders worth 31,144.23 cannot be attributed geographically.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6</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Recommendations</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Prioritised actions arising from the analysis</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64238" cy="4297680"/>
        </p:xfrm>
        <a:graphic>
          <a:graphicData uri="http://schemas.openxmlformats.org/drawingml/2006/table">
            <a:tbl>
              <a:tblPr firstRow="1" bandRow="1">
                <a:tableStyleId>{5C22544A-7EE6-4342-B048-85BDC9FD1C3A}</a:tableStyleId>
              </a:tblPr>
              <a:tblGrid>
                <a:gridCol w="325418"/>
                <a:gridCol w="4989755"/>
                <a:gridCol w="4772809"/>
                <a:gridCol w="976256"/>
              </a:tblGrid>
              <a:tr h="477520">
                <a:tc>
                  <a:txBody>
                    <a:bodyPr/>
                    <a:lstStyle/>
                    <a:p>
                      <a:r>
                        <a:rPr sz="1050" b="1">
                          <a:solidFill>
                            <a:srgbClr val="FFFFFF"/>
                          </a:solidFill>
                          <a:latin typeface="Arial"/>
                        </a:rPr>
                        <a:t>#</a:t>
                      </a:r>
                    </a:p>
                  </a:txBody>
                  <a:tcPr marL="63500" marR="63500" marT="25400" marB="25400">
                    <a:solidFill>
                      <a:srgbClr val="1F4E79"/>
                    </a:solidFill>
                  </a:tcPr>
                </a:tc>
                <a:tc>
                  <a:txBody>
                    <a:bodyPr/>
                    <a:lstStyle/>
                    <a:p>
                      <a:r>
                        <a:rPr sz="1050" b="1">
                          <a:solidFill>
                            <a:srgbClr val="FFFFFF"/>
                          </a:solidFill>
                          <a:latin typeface="Arial"/>
                        </a:rPr>
                        <a:t>Recommendation</a:t>
                      </a:r>
                    </a:p>
                  </a:txBody>
                  <a:tcPr marL="63500" marR="63500" marT="25400" marB="25400">
                    <a:solidFill>
                      <a:srgbClr val="1F4E79"/>
                    </a:solidFill>
                  </a:tcPr>
                </a:tc>
                <a:tc>
                  <a:txBody>
                    <a:bodyPr/>
                    <a:lstStyle/>
                    <a:p>
                      <a:r>
                        <a:rPr sz="1050" b="1">
                          <a:solidFill>
                            <a:srgbClr val="FFFFFF"/>
                          </a:solidFill>
                          <a:latin typeface="Arial"/>
                        </a:rPr>
                        <a:t>Why</a:t>
                      </a:r>
                    </a:p>
                  </a:txBody>
                  <a:tcPr marL="63500" marR="63500" marT="25400" marB="25400">
                    <a:solidFill>
                      <a:srgbClr val="1F4E79"/>
                    </a:solidFill>
                  </a:tcPr>
                </a:tc>
                <a:tc>
                  <a:txBody>
                    <a:bodyPr/>
                    <a:lstStyle/>
                    <a:p>
                      <a:r>
                        <a:rPr sz="1050" b="1">
                          <a:solidFill>
                            <a:srgbClr val="FFFFFF"/>
                          </a:solidFill>
                          <a:latin typeface="Arial"/>
                        </a:rPr>
                        <a:t>Priority</a:t>
                      </a:r>
                    </a:p>
                  </a:txBody>
                  <a:tcPr marL="63500" marR="63500" marT="25400" marB="25400">
                    <a:solidFill>
                      <a:srgbClr val="1F4E79"/>
                    </a:solidFill>
                  </a:tcPr>
                </a:tc>
              </a:tr>
              <a:tr h="477520">
                <a:tc>
                  <a:txBody>
                    <a:bodyPr/>
                    <a:lstStyle/>
                    <a:p>
                      <a:r>
                        <a:rPr sz="1000">
                          <a:solidFill>
                            <a:srgbClr val="212529"/>
                          </a:solidFill>
                          <a:latin typeface="Arial"/>
                        </a:rPr>
                        <a:t>1</a:t>
                      </a:r>
                    </a:p>
                  </a:txBody>
                  <a:tcPr marL="63500" marR="63500" marT="25400" marB="25400">
                    <a:solidFill>
                      <a:srgbClr val="FFFFFF"/>
                    </a:solidFill>
                  </a:tcPr>
                </a:tc>
                <a:tc>
                  <a:txBody>
                    <a:bodyPr/>
                    <a:lstStyle/>
                    <a:p>
                      <a:r>
                        <a:rPr sz="1000">
                          <a:solidFill>
                            <a:srgbClr val="212529"/>
                          </a:solidFill>
                          <a:latin typeface="Arial"/>
                        </a:rPr>
                        <a:t>Enforce country as a controlled list at capture</a:t>
                      </a:r>
                    </a:p>
                  </a:txBody>
                  <a:tcPr marL="63500" marR="63500" marT="25400" marB="25400">
                    <a:solidFill>
                      <a:srgbClr val="FFFFFF"/>
                    </a:solidFill>
                  </a:tcPr>
                </a:tc>
                <a:tc>
                  <a:txBody>
                    <a:bodyPr/>
                    <a:lstStyle/>
                    <a:p>
                      <a:r>
                        <a:rPr sz="1000">
                          <a:solidFill>
                            <a:srgbClr val="212529"/>
                          </a:solidFill>
                          <a:latin typeface="Arial"/>
                        </a:rPr>
                        <a:t>Recovers the 8.5% of unattributed revenue</a:t>
                      </a:r>
                    </a:p>
                  </a:txBody>
                  <a:tcPr marL="63500" marR="63500" marT="25400" marB="25400">
                    <a:solidFill>
                      <a:srgbClr val="FFFFFF"/>
                    </a:solidFill>
                  </a:tcPr>
                </a:tc>
                <a:tc>
                  <a:txBody>
                    <a:bodyPr/>
                    <a:lstStyle/>
                    <a:p>
                      <a:r>
                        <a:rPr sz="1000">
                          <a:solidFill>
                            <a:srgbClr val="212529"/>
                          </a:solidFill>
                          <a:latin typeface="Arial"/>
                        </a:rPr>
                        <a:t>High</a:t>
                      </a:r>
                    </a:p>
                  </a:txBody>
                  <a:tcPr marL="63500" marR="63500" marT="25400" marB="25400">
                    <a:solidFill>
                      <a:srgbClr val="FFFFFF"/>
                    </a:solidFill>
                  </a:tcPr>
                </a:tc>
              </a:tr>
              <a:tr h="477520">
                <a:tc>
                  <a:txBody>
                    <a:bodyPr/>
                    <a:lstStyle/>
                    <a:p>
                      <a:r>
                        <a:rPr sz="1000">
                          <a:solidFill>
                            <a:srgbClr val="212529"/>
                          </a:solidFill>
                          <a:latin typeface="Arial"/>
                        </a:rPr>
                        <a:t>2</a:t>
                      </a:r>
                    </a:p>
                  </a:txBody>
                  <a:tcPr marL="63500" marR="63500" marT="25400" marB="25400">
                    <a:solidFill>
                      <a:srgbClr val="EEF3F8"/>
                    </a:solidFill>
                  </a:tcPr>
                </a:tc>
                <a:tc>
                  <a:txBody>
                    <a:bodyPr/>
                    <a:lstStyle/>
                    <a:p>
                      <a:r>
                        <a:rPr sz="1000">
                          <a:solidFill>
                            <a:srgbClr val="212529"/>
                          </a:solidFill>
                          <a:latin typeface="Arial"/>
                        </a:rPr>
                        <a:t>Introduce a customer ID and instrument repeat purchase</a:t>
                      </a:r>
                    </a:p>
                  </a:txBody>
                  <a:tcPr marL="63500" marR="63500" marT="25400" marB="25400">
                    <a:solidFill>
                      <a:srgbClr val="EEF3F8"/>
                    </a:solidFill>
                  </a:tcPr>
                </a:tc>
                <a:tc>
                  <a:txBody>
                    <a:bodyPr/>
                    <a:lstStyle/>
                    <a:p>
                      <a:r>
                        <a:rPr sz="1000">
                          <a:solidFill>
                            <a:srgbClr val="212529"/>
                          </a:solidFill>
                          <a:latin typeface="Arial"/>
                        </a:rPr>
                        <a:t>Retention cannot currently be measured</a:t>
                      </a:r>
                    </a:p>
                  </a:txBody>
                  <a:tcPr marL="63500" marR="63500" marT="25400" marB="25400">
                    <a:solidFill>
                      <a:srgbClr val="EEF3F8"/>
                    </a:solidFill>
                  </a:tcPr>
                </a:tc>
                <a:tc>
                  <a:txBody>
                    <a:bodyPr/>
                    <a:lstStyle/>
                    <a:p>
                      <a:r>
                        <a:rPr sz="1000">
                          <a:solidFill>
                            <a:srgbClr val="212529"/>
                          </a:solidFill>
                          <a:latin typeface="Arial"/>
                        </a:rPr>
                        <a:t>High</a:t>
                      </a:r>
                    </a:p>
                  </a:txBody>
                  <a:tcPr marL="63500" marR="63500" marT="25400" marB="25400">
                    <a:solidFill>
                      <a:srgbClr val="EEF3F8"/>
                    </a:solidFill>
                  </a:tcPr>
                </a:tc>
              </a:tr>
              <a:tr h="477520">
                <a:tc>
                  <a:txBody>
                    <a:bodyPr/>
                    <a:lstStyle/>
                    <a:p>
                      <a:r>
                        <a:rPr sz="1000">
                          <a:solidFill>
                            <a:srgbClr val="212529"/>
                          </a:solidFill>
                          <a:latin typeface="Arial"/>
                        </a:rPr>
                        <a:t>3</a:t>
                      </a:r>
                    </a:p>
                  </a:txBody>
                  <a:tcPr marL="63500" marR="63500" marT="25400" marB="25400">
                    <a:solidFill>
                      <a:srgbClr val="FFFFFF"/>
                    </a:solidFill>
                  </a:tcPr>
                </a:tc>
                <a:tc>
                  <a:txBody>
                    <a:bodyPr/>
                    <a:lstStyle/>
                    <a:p>
                      <a:r>
                        <a:rPr sz="1000">
                          <a:solidFill>
                            <a:srgbClr val="212529"/>
                          </a:solidFill>
                          <a:latin typeface="Arial"/>
                        </a:rPr>
                        <a:t>Standardise the reporting window; compare like for like</a:t>
                      </a:r>
                    </a:p>
                  </a:txBody>
                  <a:tcPr marL="63500" marR="63500" marT="25400" marB="25400">
                    <a:solidFill>
                      <a:srgbClr val="FFFFFF"/>
                    </a:solidFill>
                  </a:tcPr>
                </a:tc>
                <a:tc>
                  <a:txBody>
                    <a:bodyPr/>
                    <a:lstStyle/>
                    <a:p>
                      <a:r>
                        <a:rPr sz="1000">
                          <a:solidFill>
                            <a:srgbClr val="212529"/>
                          </a:solidFill>
                          <a:latin typeface="Arial"/>
                        </a:rPr>
                        <a:t>Partial years produced a false 21.8% decline</a:t>
                      </a:r>
                    </a:p>
                  </a:txBody>
                  <a:tcPr marL="63500" marR="63500" marT="25400" marB="25400">
                    <a:solidFill>
                      <a:srgbClr val="FFFFFF"/>
                    </a:solidFill>
                  </a:tcPr>
                </a:tc>
                <a:tc>
                  <a:txBody>
                    <a:bodyPr/>
                    <a:lstStyle/>
                    <a:p>
                      <a:r>
                        <a:rPr sz="1000">
                          <a:solidFill>
                            <a:srgbClr val="212529"/>
                          </a:solidFill>
                          <a:latin typeface="Arial"/>
                        </a:rPr>
                        <a:t>High</a:t>
                      </a:r>
                    </a:p>
                  </a:txBody>
                  <a:tcPr marL="63500" marR="63500" marT="25400" marB="25400">
                    <a:solidFill>
                      <a:srgbClr val="FFFFFF"/>
                    </a:solidFill>
                  </a:tcPr>
                </a:tc>
              </a:tr>
              <a:tr h="477520">
                <a:tc>
                  <a:txBody>
                    <a:bodyPr/>
                    <a:lstStyle/>
                    <a:p>
                      <a:r>
                        <a:rPr sz="1000">
                          <a:solidFill>
                            <a:srgbClr val="212529"/>
                          </a:solidFill>
                          <a:latin typeface="Arial"/>
                        </a:rPr>
                        <a:t>4</a:t>
                      </a:r>
                    </a:p>
                  </a:txBody>
                  <a:tcPr marL="63500" marR="63500" marT="25400" marB="25400">
                    <a:solidFill>
                      <a:srgbClr val="EEF3F8"/>
                    </a:solidFill>
                  </a:tcPr>
                </a:tc>
                <a:tc>
                  <a:txBody>
                    <a:bodyPr/>
                    <a:lstStyle/>
                    <a:p>
                      <a:r>
                        <a:rPr sz="1000">
                          <a:solidFill>
                            <a:srgbClr val="212529"/>
                          </a:solidFill>
                          <a:latin typeface="Arial"/>
                        </a:rPr>
                        <a:t>Validate findings against production data</a:t>
                      </a:r>
                    </a:p>
                  </a:txBody>
                  <a:tcPr marL="63500" marR="63500" marT="25400" marB="25400">
                    <a:solidFill>
                      <a:srgbClr val="EEF3F8"/>
                    </a:solidFill>
                  </a:tcPr>
                </a:tc>
                <a:tc>
                  <a:txBody>
                    <a:bodyPr/>
                    <a:lstStyle/>
                    <a:p>
                      <a:r>
                        <a:rPr sz="1000">
                          <a:solidFill>
                            <a:srgbClr val="212529"/>
                          </a:solidFill>
                          <a:latin typeface="Arial"/>
                        </a:rPr>
                        <a:t>The dataset looks synthetic</a:t>
                      </a:r>
                    </a:p>
                  </a:txBody>
                  <a:tcPr marL="63500" marR="63500" marT="25400" marB="25400">
                    <a:solidFill>
                      <a:srgbClr val="EEF3F8"/>
                    </a:solidFill>
                  </a:tcPr>
                </a:tc>
                <a:tc>
                  <a:txBody>
                    <a:bodyPr/>
                    <a:lstStyle/>
                    <a:p>
                      <a:r>
                        <a:rPr sz="1000">
                          <a:solidFill>
                            <a:srgbClr val="212529"/>
                          </a:solidFill>
                          <a:latin typeface="Arial"/>
                        </a:rPr>
                        <a:t>High</a:t>
                      </a:r>
                    </a:p>
                  </a:txBody>
                  <a:tcPr marL="63500" marR="63500" marT="25400" marB="25400">
                    <a:solidFill>
                      <a:srgbClr val="EEF3F8"/>
                    </a:solidFill>
                  </a:tcPr>
                </a:tc>
              </a:tr>
              <a:tr h="477520">
                <a:tc>
                  <a:txBody>
                    <a:bodyPr/>
                    <a:lstStyle/>
                    <a:p>
                      <a:r>
                        <a:rPr sz="1000">
                          <a:solidFill>
                            <a:srgbClr val="212529"/>
                          </a:solidFill>
                          <a:latin typeface="Arial"/>
                        </a:rPr>
                        <a:t>5</a:t>
                      </a:r>
                    </a:p>
                  </a:txBody>
                  <a:tcPr marL="63500" marR="63500" marT="25400" marB="25400">
                    <a:solidFill>
                      <a:srgbClr val="FFFFFF"/>
                    </a:solidFill>
                  </a:tcPr>
                </a:tc>
                <a:tc>
                  <a:txBody>
                    <a:bodyPr/>
                    <a:lstStyle/>
                    <a:p>
                      <a:r>
                        <a:rPr sz="1000">
                          <a:solidFill>
                            <a:srgbClr val="212529"/>
                          </a:solidFill>
                          <a:latin typeface="Arial"/>
                        </a:rPr>
                        <a:t>Replace the city panel with market reporting</a:t>
                      </a:r>
                    </a:p>
                  </a:txBody>
                  <a:tcPr marL="63500" marR="63500" marT="25400" marB="25400">
                    <a:solidFill>
                      <a:srgbClr val="FFFFFF"/>
                    </a:solidFill>
                  </a:tcPr>
                </a:tc>
                <a:tc>
                  <a:txBody>
                    <a:bodyPr/>
                    <a:lstStyle/>
                    <a:p>
                      <a:r>
                        <a:rPr sz="1000">
                          <a:solidFill>
                            <a:srgbClr val="212529"/>
                          </a:solidFill>
                          <a:latin typeface="Arial"/>
                        </a:rPr>
                        <a:t>586 cities, 5.9% top-ten share</a:t>
                      </a:r>
                    </a:p>
                  </a:txBody>
                  <a:tcPr marL="63500" marR="63500" marT="25400" marB="25400">
                    <a:solidFill>
                      <a:srgbClr val="FFFFFF"/>
                    </a:solidFill>
                  </a:tcPr>
                </a:tc>
                <a:tc>
                  <a:txBody>
                    <a:bodyPr/>
                    <a:lstStyle/>
                    <a:p>
                      <a:r>
                        <a:rPr sz="1000">
                          <a:solidFill>
                            <a:srgbClr val="212529"/>
                          </a:solidFill>
                          <a:latin typeface="Arial"/>
                        </a:rPr>
                        <a:t>Medium</a:t>
                      </a:r>
                    </a:p>
                  </a:txBody>
                  <a:tcPr marL="63500" marR="63500" marT="25400" marB="25400">
                    <a:solidFill>
                      <a:srgbClr val="FFFFFF"/>
                    </a:solidFill>
                  </a:tcPr>
                </a:tc>
              </a:tr>
              <a:tr h="477520">
                <a:tc>
                  <a:txBody>
                    <a:bodyPr/>
                    <a:lstStyle/>
                    <a:p>
                      <a:r>
                        <a:rPr sz="1000">
                          <a:solidFill>
                            <a:srgbClr val="212529"/>
                          </a:solidFill>
                          <a:latin typeface="Arial"/>
                        </a:rPr>
                        <a:t>6</a:t>
                      </a:r>
                    </a:p>
                  </a:txBody>
                  <a:tcPr marL="63500" marR="63500" marT="25400" marB="25400">
                    <a:solidFill>
                      <a:srgbClr val="EEF3F8"/>
                    </a:solidFill>
                  </a:tcPr>
                </a:tc>
                <a:tc>
                  <a:txBody>
                    <a:bodyPr/>
                    <a:lstStyle/>
                    <a:p>
                      <a:r>
                        <a:rPr sz="1000">
                          <a:solidFill>
                            <a:srgbClr val="212529"/>
                          </a:solidFill>
                          <a:latin typeface="Arial"/>
                        </a:rPr>
                        <a:t>Adopt the corrected market ranking onward</a:t>
                      </a:r>
                    </a:p>
                  </a:txBody>
                  <a:tcPr marL="63500" marR="63500" marT="25400" marB="25400">
                    <a:solidFill>
                      <a:srgbClr val="EEF3F8"/>
                    </a:solidFill>
                  </a:tcPr>
                </a:tc>
                <a:tc>
                  <a:txBody>
                    <a:bodyPr/>
                    <a:lstStyle/>
                    <a:p>
                      <a:r>
                        <a:rPr sz="1000">
                          <a:solidFill>
                            <a:srgbClr val="212529"/>
                          </a:solidFill>
                          <a:latin typeface="Arial"/>
                        </a:rPr>
                        <a:t>The UK moves from fifth to second</a:t>
                      </a:r>
                    </a:p>
                  </a:txBody>
                  <a:tcPr marL="63500" marR="63500" marT="25400" marB="25400">
                    <a:solidFill>
                      <a:srgbClr val="EEF3F8"/>
                    </a:solidFill>
                  </a:tcPr>
                </a:tc>
                <a:tc>
                  <a:txBody>
                    <a:bodyPr/>
                    <a:lstStyle/>
                    <a:p>
                      <a:r>
                        <a:rPr sz="1000">
                          <a:solidFill>
                            <a:srgbClr val="212529"/>
                          </a:solidFill>
                          <a:latin typeface="Arial"/>
                        </a:rPr>
                        <a:t>Medium</a:t>
                      </a:r>
                    </a:p>
                  </a:txBody>
                  <a:tcPr marL="63500" marR="63500" marT="25400" marB="25400">
                    <a:solidFill>
                      <a:srgbClr val="EEF3F8"/>
                    </a:solidFill>
                  </a:tcPr>
                </a:tc>
              </a:tr>
              <a:tr h="477520">
                <a:tc>
                  <a:txBody>
                    <a:bodyPr/>
                    <a:lstStyle/>
                    <a:p>
                      <a:r>
                        <a:rPr sz="1000">
                          <a:solidFill>
                            <a:srgbClr val="212529"/>
                          </a:solidFill>
                          <a:latin typeface="Arial"/>
                        </a:rPr>
                        <a:t>7</a:t>
                      </a:r>
                    </a:p>
                  </a:txBody>
                  <a:tcPr marL="63500" marR="63500" marT="25400" marB="25400">
                    <a:solidFill>
                      <a:srgbClr val="FFFFFF"/>
                    </a:solidFill>
                  </a:tcPr>
                </a:tc>
                <a:tc>
                  <a:txBody>
                    <a:bodyPr/>
                    <a:lstStyle/>
                    <a:p>
                      <a:r>
                        <a:rPr sz="1000">
                          <a:solidFill>
                            <a:srgbClr val="212529"/>
                          </a:solidFill>
                          <a:latin typeface="Arial"/>
                        </a:rPr>
                        <a:t>Add automated data-quality checks to the pipeline</a:t>
                      </a:r>
                    </a:p>
                  </a:txBody>
                  <a:tcPr marL="63500" marR="63500" marT="25400" marB="25400">
                    <a:solidFill>
                      <a:srgbClr val="FFFFFF"/>
                    </a:solidFill>
                  </a:tcPr>
                </a:tc>
                <a:tc>
                  <a:txBody>
                    <a:bodyPr/>
                    <a:lstStyle/>
                    <a:p>
                      <a:r>
                        <a:rPr sz="1000">
                          <a:solidFill>
                            <a:srgbClr val="212529"/>
                          </a:solidFill>
                          <a:latin typeface="Arial"/>
                        </a:rPr>
                        <a:t>Both defects were silent, not errors</a:t>
                      </a:r>
                    </a:p>
                  </a:txBody>
                  <a:tcPr marL="63500" marR="63500" marT="25400" marB="25400">
                    <a:solidFill>
                      <a:srgbClr val="FFFFFF"/>
                    </a:solidFill>
                  </a:tcPr>
                </a:tc>
                <a:tc>
                  <a:txBody>
                    <a:bodyPr/>
                    <a:lstStyle/>
                    <a:p>
                      <a:r>
                        <a:rPr sz="1000">
                          <a:solidFill>
                            <a:srgbClr val="212529"/>
                          </a:solidFill>
                          <a:latin typeface="Arial"/>
                        </a:rPr>
                        <a:t>Medium</a:t>
                      </a:r>
                    </a:p>
                  </a:txBody>
                  <a:tcPr marL="63500" marR="63500" marT="25400" marB="25400">
                    <a:solidFill>
                      <a:srgbClr val="FFFFFF"/>
                    </a:solidFill>
                  </a:tcPr>
                </a:tc>
              </a:tr>
              <a:tr h="477520">
                <a:tc>
                  <a:txBody>
                    <a:bodyPr/>
                    <a:lstStyle/>
                    <a:p>
                      <a:r>
                        <a:rPr sz="1000">
                          <a:solidFill>
                            <a:srgbClr val="212529"/>
                          </a:solidFill>
                          <a:latin typeface="Arial"/>
                        </a:rPr>
                        <a:t>8</a:t>
                      </a:r>
                    </a:p>
                  </a:txBody>
                  <a:tcPr marL="63500" marR="63500" marT="25400" marB="25400">
                    <a:solidFill>
                      <a:srgbClr val="EEF3F8"/>
                    </a:solidFill>
                  </a:tcPr>
                </a:tc>
                <a:tc>
                  <a:txBody>
                    <a:bodyPr/>
                    <a:lstStyle/>
                    <a:p>
                      <a:r>
                        <a:rPr sz="1000">
                          <a:solidFill>
                            <a:srgbClr val="212529"/>
                          </a:solidFill>
                          <a:latin typeface="Arial"/>
                        </a:rPr>
                        <a:t>Quantify the cost of cash on delivery</a:t>
                      </a:r>
                    </a:p>
                  </a:txBody>
                  <a:tcPr marL="63500" marR="63500" marT="25400" marB="25400">
                    <a:solidFill>
                      <a:srgbClr val="EEF3F8"/>
                    </a:solidFill>
                  </a:tcPr>
                </a:tc>
                <a:tc>
                  <a:txBody>
                    <a:bodyPr/>
                    <a:lstStyle/>
                    <a:p>
                      <a:r>
                        <a:rPr sz="1000">
                          <a:solidFill>
                            <a:srgbClr val="212529"/>
                          </a:solidFill>
                          <a:latin typeface="Arial"/>
                        </a:rPr>
                        <a:t>20.3% of orders</a:t>
                      </a:r>
                    </a:p>
                  </a:txBody>
                  <a:tcPr marL="63500" marR="63500" marT="25400" marB="25400">
                    <a:solidFill>
                      <a:srgbClr val="EEF3F8"/>
                    </a:solidFill>
                  </a:tcPr>
                </a:tc>
                <a:tc>
                  <a:txBody>
                    <a:bodyPr/>
                    <a:lstStyle/>
                    <a:p>
                      <a:r>
                        <a:rPr sz="1000">
                          <a:solidFill>
                            <a:srgbClr val="212529"/>
                          </a:solidFill>
                          <a:latin typeface="Arial"/>
                        </a:rPr>
                        <a:t>Medium</a:t>
                      </a:r>
                    </a:p>
                  </a:txBody>
                  <a:tcPr marL="63500" marR="63500" marT="25400" marB="25400">
                    <a:solidFill>
                      <a:srgbClr val="EEF3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anchor="t" lIns="0" rIns="0" tIns="0" bIns="0">
            <a:spAutoFit/>
          </a:bodyPr>
          <a:lstStyle/>
          <a:p>
            <a:pPr algn="l">
              <a:lnSpc>
                <a:spcPct val="100000"/>
              </a:lnSpc>
            </a:pPr>
            <a:r>
              <a:rPr sz="1100" b="1" i="0">
                <a:solidFill>
                  <a:srgbClr val="2E86AB"/>
                </a:solidFill>
                <a:latin typeface="Arial"/>
              </a:rPr>
              <a:t>SECTION 7</a:t>
            </a:r>
          </a:p>
        </p:txBody>
      </p:sp>
      <p:sp>
        <p:nvSpPr>
          <p:cNvPr id="4" name="TextBox 3"/>
          <p:cNvSpPr txBox="1"/>
          <p:nvPr/>
        </p:nvSpPr>
        <p:spPr>
          <a:xfrm>
            <a:off x="548640" y="621792"/>
            <a:ext cx="11155680" cy="640080"/>
          </a:xfrm>
          <a:prstGeom prst="rect">
            <a:avLst/>
          </a:prstGeom>
          <a:noFill/>
        </p:spPr>
        <p:txBody>
          <a:bodyPr wrap="square" anchor="t" lIns="0" rIns="0" tIns="0" bIns="0">
            <a:spAutoFit/>
          </a:bodyPr>
          <a:lstStyle/>
          <a:p>
            <a:pPr algn="l">
              <a:lnSpc>
                <a:spcPct val="100000"/>
              </a:lnSpc>
            </a:pPr>
            <a:r>
              <a:rPr sz="2800" b="1" i="0">
                <a:solidFill>
                  <a:srgbClr val="1F4E79"/>
                </a:solidFill>
                <a:latin typeface="Arial"/>
              </a:rPr>
              <a:t>Limitations and Takeaway</a:t>
            </a:r>
          </a:p>
        </p:txBody>
      </p:sp>
      <p:sp>
        <p:nvSpPr>
          <p:cNvPr id="5" name="TextBox 4"/>
          <p:cNvSpPr txBox="1"/>
          <p:nvPr/>
        </p:nvSpPr>
        <p:spPr>
          <a:xfrm>
            <a:off x="548640" y="1280160"/>
            <a:ext cx="11155680" cy="365760"/>
          </a:xfrm>
          <a:prstGeom prst="rect">
            <a:avLst/>
          </a:prstGeom>
          <a:noFill/>
        </p:spPr>
        <p:txBody>
          <a:bodyPr wrap="square" anchor="t" lIns="0" rIns="0" tIns="0" bIns="0">
            <a:spAutoFit/>
          </a:bodyPr>
          <a:lstStyle/>
          <a:p>
            <a:pPr algn="l">
              <a:lnSpc>
                <a:spcPct val="100000"/>
              </a:lnSpc>
            </a:pPr>
            <a:r>
              <a:rPr sz="1300" b="0" i="1">
                <a:solidFill>
                  <a:srgbClr val="5C6670"/>
                </a:solidFill>
                <a:latin typeface="Arial"/>
              </a:rPr>
              <a:t>What bounds these conclusions</a:t>
            </a:r>
          </a:p>
        </p:txBody>
      </p:sp>
      <p:sp>
        <p:nvSpPr>
          <p:cNvPr id="6" name="Rectangle 5"/>
          <p:cNvSpPr/>
          <p:nvPr/>
        </p:nvSpPr>
        <p:spPr>
          <a:xfrm>
            <a:off x="548640" y="1719072"/>
            <a:ext cx="1828800" cy="3200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60"/>
            <a:ext cx="10972800" cy="2377440"/>
          </a:xfrm>
          <a:prstGeom prst="rect">
            <a:avLst/>
          </a:prstGeom>
          <a:noFill/>
        </p:spPr>
        <p:txBody>
          <a:bodyPr wrap="square" lIns="0" rIns="0">
            <a:spAutoFit/>
          </a:bodyPr>
          <a:lstStyle/>
          <a:p>
            <a:pPr>
              <a:lnSpc>
                <a:spcPct val="105000"/>
              </a:lnSpc>
              <a:spcAft>
                <a:spcPts val="1200"/>
              </a:spcAft>
            </a:pPr>
            <a:r>
              <a:rPr sz="1400" b="1">
                <a:solidFill>
                  <a:srgbClr val="1F4E79"/>
                </a:solidFill>
                <a:latin typeface="Arial"/>
              </a:rPr>
              <a:t>Data quality. </a:t>
            </a:r>
            <a:r>
              <a:rPr sz="1400">
                <a:solidFill>
                  <a:srgbClr val="212529"/>
                </a:solidFill>
                <a:latin typeface="Arial"/>
              </a:rPr>
              <a:t>The dataset appears synthetic: example.com emails, generated city names, and 626 orders from 626 distinct customers.</a:t>
            </a:r>
          </a:p>
          <a:p>
            <a:pPr>
              <a:lnSpc>
                <a:spcPct val="105000"/>
              </a:lnSpc>
              <a:spcAft>
                <a:spcPts val="1200"/>
              </a:spcAft>
            </a:pPr>
            <a:r>
              <a:rPr sz="1400" b="1">
                <a:solidFill>
                  <a:srgbClr val="1F4E79"/>
                </a:solidFill>
                <a:latin typeface="Arial"/>
              </a:rPr>
              <a:t>Scope. </a:t>
            </a:r>
            <a:r>
              <a:rPr sz="1400">
                <a:solidFill>
                  <a:srgbClr val="212529"/>
                </a:solidFill>
                <a:latin typeface="Arial"/>
              </a:rPr>
              <a:t>No currency, no cost or margin fields, and no order status - this is revenue analysis only, not profitability.</a:t>
            </a:r>
          </a:p>
          <a:p>
            <a:pPr>
              <a:lnSpc>
                <a:spcPct val="105000"/>
              </a:lnSpc>
              <a:spcAft>
                <a:spcPts val="1200"/>
              </a:spcAft>
            </a:pPr>
            <a:r>
              <a:rPr sz="1400" b="1">
                <a:solidFill>
                  <a:srgbClr val="1F4E79"/>
                </a:solidFill>
                <a:latin typeface="Arial"/>
              </a:rPr>
              <a:t>Coverage. </a:t>
            </a:r>
            <a:r>
              <a:rPr sz="1400">
                <a:solidFill>
                  <a:srgbClr val="212529"/>
                </a:solidFill>
                <a:latin typeface="Arial"/>
              </a:rPr>
              <a:t>2024 and 2026 are partial, so only like-for-like windows support trend statements.</a:t>
            </a:r>
          </a:p>
          <a:p>
            <a:pPr>
              <a:lnSpc>
                <a:spcPct val="105000"/>
              </a:lnSpc>
              <a:spcAft>
                <a:spcPts val="1200"/>
              </a:spcAft>
            </a:pPr>
            <a:r>
              <a:rPr sz="1400" b="1">
                <a:solidFill>
                  <a:srgbClr val="1F4E79"/>
                </a:solidFill>
                <a:latin typeface="Arial"/>
              </a:rPr>
              <a:t>Residual gaps. </a:t>
            </a:r>
            <a:r>
              <a:rPr sz="1400">
                <a:solidFill>
                  <a:srgbClr val="212529"/>
                </a:solidFill>
                <a:latin typeface="Arial"/>
              </a:rPr>
              <a:t>Some gaps are retained rather than imputed: 110 cells remain missing and 124 order IDs are absent from the sequence.</a:t>
            </a:r>
          </a:p>
        </p:txBody>
      </p:sp>
      <p:sp>
        <p:nvSpPr>
          <p:cNvPr id="8" name="Rounded Rectangle 7"/>
          <p:cNvSpPr/>
          <p:nvPr/>
        </p:nvSpPr>
        <p:spPr>
          <a:xfrm>
            <a:off x="640080" y="4434840"/>
            <a:ext cx="10881360" cy="1737360"/>
          </a:xfrm>
          <a:prstGeom prst="roundRect">
            <a:avLst/>
          </a:prstGeom>
          <a:solidFill>
            <a:srgbClr val="EEF3F8"/>
          </a:solidFill>
          <a:ln>
            <a:solidFill>
              <a:srgbClr val="D3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E8871E"/>
                </a:solidFill>
                <a:latin typeface="Arial"/>
              </a:rPr>
              <a:t>The takeaway</a:t>
            </a:r>
          </a:p>
          <a:p>
            <a:pPr algn="ctr">
              <a:spcBef>
                <a:spcPts val="600"/>
              </a:spcBef>
            </a:pPr>
            <a:r>
              <a:rPr sz="1350">
                <a:solidFill>
                  <a:srgbClr val="212529"/>
                </a:solidFill>
                <a:latin typeface="Arial"/>
              </a:rPr>
              <a:t>The business is balanced and stable: five markets and five categories of similar size, and flat trading once coverage is corrected. The real risk is that two silent data defects had been producing confident, wrong answers - which is the argument for the data-quality controls recommended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914400"/>
          </a:xfrm>
          <a:prstGeom prst="rect">
            <a:avLst/>
          </a:prstGeom>
          <a:noFill/>
        </p:spPr>
        <p:txBody>
          <a:bodyPr wrap="square" anchor="t" lIns="0" rIns="0" tIns="0" bIns="0">
            <a:spAutoFit/>
          </a:bodyPr>
          <a:lstStyle/>
          <a:p>
            <a:pPr algn="ctr">
              <a:lnSpc>
                <a:spcPct val="100000"/>
              </a:lnSpc>
            </a:pPr>
            <a:r>
              <a:rPr sz="4000" b="1" i="0">
                <a:solidFill>
                  <a:srgbClr val="FFFFFF"/>
                </a:solidFill>
                <a:latin typeface="Arial"/>
              </a:rPr>
              <a:t>Thank you</a:t>
            </a:r>
          </a:p>
        </p:txBody>
      </p:sp>
      <p:sp>
        <p:nvSpPr>
          <p:cNvPr id="4" name="TextBox 3"/>
          <p:cNvSpPr txBox="1"/>
          <p:nvPr/>
        </p:nvSpPr>
        <p:spPr>
          <a:xfrm>
            <a:off x="914400" y="3657600"/>
            <a:ext cx="10332720" cy="457200"/>
          </a:xfrm>
          <a:prstGeom prst="rect">
            <a:avLst/>
          </a:prstGeom>
          <a:noFill/>
        </p:spPr>
        <p:txBody>
          <a:bodyPr wrap="square" anchor="t" lIns="0" rIns="0" tIns="0" bIns="0">
            <a:spAutoFit/>
          </a:bodyPr>
          <a:lstStyle/>
          <a:p>
            <a:pPr algn="ctr">
              <a:lnSpc>
                <a:spcPct val="100000"/>
              </a:lnSpc>
            </a:pPr>
            <a:r>
              <a:rPr sz="1800" b="0" i="0">
                <a:solidFill>
                  <a:srgbClr val="C9DDEC"/>
                </a:solidFill>
                <a:latin typeface="Arial"/>
              </a:rPr>
              <a:t>Questions and discussion</a:t>
            </a:r>
          </a:p>
        </p:txBody>
      </p:sp>
      <p:sp>
        <p:nvSpPr>
          <p:cNvPr id="5" name="TextBox 4"/>
          <p:cNvSpPr txBox="1"/>
          <p:nvPr/>
        </p:nvSpPr>
        <p:spPr>
          <a:xfrm>
            <a:off x="914400" y="4480560"/>
            <a:ext cx="10332720" cy="548640"/>
          </a:xfrm>
          <a:prstGeom prst="rect">
            <a:avLst/>
          </a:prstGeom>
          <a:noFill/>
        </p:spPr>
        <p:txBody>
          <a:bodyPr wrap="square" anchor="t" lIns="0" rIns="0" tIns="0" bIns="0">
            <a:spAutoFit/>
          </a:bodyPr>
          <a:lstStyle/>
          <a:p>
            <a:pPr algn="ctr">
              <a:lnSpc>
                <a:spcPct val="100000"/>
              </a:lnSpc>
            </a:pPr>
            <a:r>
              <a:rPr sz="1200" b="0" i="0">
                <a:solidFill>
                  <a:srgbClr val="9CC3E0"/>
                </a:solidFill>
                <a:latin typeface="Arial"/>
              </a:rPr>
              <a:t>Swynex Final Project  |  Retail Sales Data Analysis  |  Cleaned, analysed and documented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